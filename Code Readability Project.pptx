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73" r:id="rId3"/>
    <p:sldId id="257" r:id="rId4"/>
    <p:sldId id="268" r:id="rId5"/>
    <p:sldId id="269" r:id="rId6"/>
    <p:sldId id="270" r:id="rId7"/>
    <p:sldId id="271" r:id="rId8"/>
    <p:sldId id="272" r:id="rId9"/>
    <p:sldId id="258" r:id="rId10"/>
    <p:sldId id="260" r:id="rId11"/>
    <p:sldId id="259" r:id="rId12"/>
    <p:sldId id="261" r:id="rId13"/>
    <p:sldId id="262" r:id="rId14"/>
    <p:sldId id="263" r:id="rId15"/>
    <p:sldId id="264" r:id="rId16"/>
    <p:sldId id="265" r:id="rId17"/>
    <p:sldId id="267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F0D71D-1A07-8D4B-8983-4B124BB8A10D}" name="Gergő Márton" initials="GM" userId="c11545abfb47eef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6B9EE-A7F2-4C28-9287-E19B23D1BE6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CCF46-AA30-4227-93D6-4B56902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7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19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400" b="1" dirty="0"/>
              <a:t>C</a:t>
            </a:r>
            <a:r>
              <a:rPr lang="en-US" sz="1400" b="1" dirty="0"/>
              <a:t>ore </a:t>
            </a:r>
            <a:r>
              <a:rPr lang="hu-HU" sz="1400" b="1" dirty="0" err="1"/>
              <a:t>problem</a:t>
            </a:r>
            <a:r>
              <a:rPr lang="hu-HU" sz="1400" b="1" dirty="0"/>
              <a:t>:</a:t>
            </a:r>
            <a:endParaRPr lang="en-US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Readability is inherently subjective. </a:t>
            </a: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Two developers can look at the same piece of code and give it completely different readability scores.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The</a:t>
            </a:r>
            <a:r>
              <a:rPr lang="en-US" dirty="0"/>
              <a:t> goal </a:t>
            </a:r>
            <a:r>
              <a:rPr lang="hu-HU" dirty="0"/>
              <a:t>is</a:t>
            </a:r>
            <a:r>
              <a:rPr lang="en-US" dirty="0"/>
              <a:t> to remove</a:t>
            </a:r>
            <a:r>
              <a:rPr lang="hu-HU" dirty="0"/>
              <a:t>/</a:t>
            </a:r>
            <a:r>
              <a:rPr lang="hu-HU" dirty="0" err="1"/>
              <a:t>mitigate</a:t>
            </a:r>
            <a:r>
              <a:rPr lang="en-US" dirty="0"/>
              <a:t> that subjectivity — to build a model and a tool that can consistently and accurately estimate code readability, across different languages and code sizes.</a:t>
            </a: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The </a:t>
            </a:r>
            <a:r>
              <a:rPr lang="hu-HU" dirty="0" err="1"/>
              <a:t>current</a:t>
            </a:r>
            <a:r>
              <a:rPr lang="hu-HU" dirty="0"/>
              <a:t> </a:t>
            </a:r>
            <a:r>
              <a:rPr lang="hu-HU" dirty="0" err="1"/>
              <a:t>primary</a:t>
            </a:r>
            <a:r>
              <a:rPr lang="hu-HU" dirty="0"/>
              <a:t> </a:t>
            </a:r>
            <a:r>
              <a:rPr lang="hu-HU" dirty="0" err="1"/>
              <a:t>language</a:t>
            </a:r>
            <a:r>
              <a:rPr lang="hu-HU" dirty="0"/>
              <a:t> is Python,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project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later</a:t>
            </a:r>
            <a:r>
              <a:rPr lang="hu-HU" dirty="0"/>
              <a:t> be </a:t>
            </a:r>
            <a:r>
              <a:rPr lang="hu-HU" dirty="0" err="1"/>
              <a:t>expanded</a:t>
            </a:r>
            <a:r>
              <a:rPr lang="hu-HU" dirty="0"/>
              <a:t> </a:t>
            </a:r>
            <a:r>
              <a:rPr lang="hu-HU" dirty="0" err="1"/>
              <a:t>easily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cover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languages</a:t>
            </a:r>
            <a:r>
              <a:rPr lang="hu-HU" dirty="0"/>
              <a:t> </a:t>
            </a:r>
            <a:r>
              <a:rPr lang="hu-HU" dirty="0" err="1"/>
              <a:t>aswell</a:t>
            </a:r>
            <a:endParaRPr lang="en-US" dirty="0"/>
          </a:p>
          <a:p>
            <a:r>
              <a:rPr lang="en-US" sz="1400" b="1" dirty="0"/>
              <a:t>The output</a:t>
            </a:r>
            <a:endParaRPr lang="hu-HU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structured JSON file containing code snippets and their corresponding readability scores for a wide range of metrics.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37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achieve this, we built a modular tool</a:t>
            </a:r>
            <a:r>
              <a:rPr lang="hu-HU" dirty="0"/>
              <a:t> </a:t>
            </a:r>
            <a:r>
              <a:rPr lang="en-US" dirty="0"/>
              <a:t>from five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following</a:t>
            </a:r>
            <a:r>
              <a:rPr lang="en-US" dirty="0"/>
              <a:t> components</a:t>
            </a:r>
            <a:r>
              <a:rPr lang="hu-H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Scrapers</a:t>
            </a:r>
            <a:r>
              <a:rPr lang="en-US" dirty="0"/>
              <a:t> fetch code from platforms like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Data Extractors </a:t>
            </a:r>
            <a:r>
              <a:rPr lang="en-US" dirty="0"/>
              <a:t>break files into smaller units like methods or classes.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Readability Judges </a:t>
            </a:r>
            <a:r>
              <a:rPr lang="en-US" dirty="0"/>
              <a:t>use an LLM to evaluate subjective metrics.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Metric Calculators </a:t>
            </a:r>
            <a:r>
              <a:rPr lang="en-US" dirty="0"/>
              <a:t>handle objective, algorithm-based metrics.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finally, the </a:t>
            </a:r>
            <a:r>
              <a:rPr lang="en-US" b="1" dirty="0"/>
              <a:t>Data Saver </a:t>
            </a:r>
            <a:r>
              <a:rPr lang="en-US" dirty="0"/>
              <a:t>packages everything into JSON format.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This</a:t>
            </a:r>
            <a:r>
              <a:rPr lang="hu-HU" dirty="0"/>
              <a:t> </a:t>
            </a:r>
            <a:r>
              <a:rPr lang="hu-HU" dirty="0" err="1"/>
              <a:t>probably</a:t>
            </a:r>
            <a:r>
              <a:rPr lang="hu-HU" dirty="0"/>
              <a:t> </a:t>
            </a:r>
            <a:r>
              <a:rPr lang="hu-HU" dirty="0" err="1"/>
              <a:t>will</a:t>
            </a:r>
            <a:r>
              <a:rPr lang="hu-HU" dirty="0"/>
              <a:t> be </a:t>
            </a:r>
            <a:r>
              <a:rPr lang="hu-HU" dirty="0" err="1"/>
              <a:t>modified</a:t>
            </a:r>
            <a:r>
              <a:rPr lang="hu-HU" dirty="0"/>
              <a:t> </a:t>
            </a:r>
            <a:r>
              <a:rPr lang="hu-HU" dirty="0" err="1"/>
              <a:t>later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fit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future</a:t>
            </a:r>
            <a:r>
              <a:rPr lang="hu-HU" dirty="0"/>
              <a:t>. </a:t>
            </a:r>
            <a:r>
              <a:rPr lang="hu-HU" dirty="0" err="1"/>
              <a:t>Right</a:t>
            </a:r>
            <a:r>
              <a:rPr lang="hu-HU" dirty="0"/>
              <a:t> </a:t>
            </a:r>
            <a:r>
              <a:rPr lang="hu-HU" dirty="0" err="1"/>
              <a:t>now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 is a fixed </a:t>
            </a:r>
            <a:r>
              <a:rPr lang="hu-HU" dirty="0" err="1"/>
              <a:t>pipeline</a:t>
            </a:r>
            <a:r>
              <a:rPr lang="hu-HU" dirty="0"/>
              <a:t>,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later</a:t>
            </a:r>
            <a:r>
              <a:rPr lang="hu-HU" dirty="0"/>
              <a:t> down </a:t>
            </a:r>
            <a:r>
              <a:rPr lang="hu-HU" dirty="0" err="1"/>
              <a:t>the</a:t>
            </a:r>
            <a:r>
              <a:rPr lang="hu-HU" dirty="0"/>
              <a:t> line I </a:t>
            </a:r>
            <a:r>
              <a:rPr lang="hu-HU" dirty="0" err="1"/>
              <a:t>would</a:t>
            </a:r>
            <a:r>
              <a:rPr lang="hu-HU" dirty="0"/>
              <a:t> like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separate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steps</a:t>
            </a:r>
            <a:r>
              <a:rPr lang="hu-HU" dirty="0"/>
              <a:t> in </a:t>
            </a:r>
            <a:r>
              <a:rPr lang="hu-HU" dirty="0" err="1"/>
              <a:t>order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implement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more </a:t>
            </a:r>
            <a:r>
              <a:rPr lang="hu-HU" dirty="0" err="1"/>
              <a:t>easily</a:t>
            </a:r>
            <a:r>
              <a:rPr lang="hu-HU" dirty="0"/>
              <a:t>. More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 </a:t>
            </a:r>
            <a:r>
              <a:rPr lang="hu-HU" dirty="0" err="1"/>
              <a:t>later</a:t>
            </a:r>
            <a:r>
              <a:rPr lang="hu-HU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53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Here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see</a:t>
            </a:r>
            <a:r>
              <a:rPr lang="hu-HU" dirty="0"/>
              <a:t> </a:t>
            </a:r>
            <a:r>
              <a:rPr lang="hu-HU" dirty="0" err="1"/>
              <a:t>how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en-US" dirty="0"/>
              <a:t>flows through the system.</a:t>
            </a:r>
          </a:p>
          <a:p>
            <a:r>
              <a:rPr lang="en-US" dirty="0"/>
              <a:t>The </a:t>
            </a:r>
            <a:r>
              <a:rPr lang="en-US" b="1" dirty="0"/>
              <a:t>Scraper</a:t>
            </a:r>
            <a:r>
              <a:rPr lang="en-US" dirty="0"/>
              <a:t> takes a repo path and language, and returns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repo’s</a:t>
            </a:r>
            <a:r>
              <a:rPr lang="hu-HU" dirty="0"/>
              <a:t> </a:t>
            </a:r>
            <a:r>
              <a:rPr lang="en-US" dirty="0"/>
              <a:t>metadata</a:t>
            </a:r>
            <a:r>
              <a:rPr lang="hu-HU" dirty="0"/>
              <a:t> (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example</a:t>
            </a:r>
            <a:r>
              <a:rPr lang="hu-HU" dirty="0"/>
              <a:t> </a:t>
            </a:r>
            <a:r>
              <a:rPr lang="hu-HU" dirty="0" err="1"/>
              <a:t>name</a:t>
            </a:r>
            <a:r>
              <a:rPr lang="hu-HU" dirty="0"/>
              <a:t>, </a:t>
            </a:r>
            <a:r>
              <a:rPr lang="hu-HU" dirty="0" err="1"/>
              <a:t>apth</a:t>
            </a:r>
            <a:r>
              <a:rPr lang="hu-HU" dirty="0"/>
              <a:t>, </a:t>
            </a:r>
            <a:r>
              <a:rPr lang="hu-HU" dirty="0" err="1"/>
              <a:t>owner</a:t>
            </a:r>
            <a:r>
              <a:rPr lang="hu-HU" dirty="0"/>
              <a:t>, </a:t>
            </a:r>
            <a:r>
              <a:rPr lang="hu-HU" dirty="0" err="1"/>
              <a:t>etc</a:t>
            </a:r>
            <a:r>
              <a:rPr lang="hu-HU" dirty="0"/>
              <a:t>, </a:t>
            </a:r>
            <a:r>
              <a:rPr lang="hu-HU" dirty="0" err="1"/>
              <a:t>this</a:t>
            </a:r>
            <a:r>
              <a:rPr lang="hu-HU" dirty="0"/>
              <a:t> is </a:t>
            </a:r>
            <a:r>
              <a:rPr lang="hu-HU" dirty="0" err="1"/>
              <a:t>useful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testing </a:t>
            </a:r>
            <a:r>
              <a:rPr lang="hu-HU" dirty="0" err="1"/>
              <a:t>purposes</a:t>
            </a:r>
            <a:r>
              <a:rPr lang="hu-HU" dirty="0"/>
              <a:t>)</a:t>
            </a:r>
            <a:r>
              <a:rPr lang="en-US" dirty="0"/>
              <a:t> and </a:t>
            </a:r>
            <a:r>
              <a:rPr lang="hu-HU" dirty="0"/>
              <a:t>file </a:t>
            </a:r>
            <a:r>
              <a:rPr lang="hu-HU" dirty="0" err="1"/>
              <a:t>datas</a:t>
            </a:r>
            <a:r>
              <a:rPr lang="hu-HU" dirty="0"/>
              <a:t>,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name</a:t>
            </a:r>
            <a:r>
              <a:rPr lang="hu-HU" dirty="0"/>
              <a:t> and </a:t>
            </a:r>
            <a:r>
              <a:rPr lang="hu-HU" dirty="0" err="1"/>
              <a:t>path</a:t>
            </a:r>
            <a:r>
              <a:rPr lang="hu-HU" dirty="0"/>
              <a:t> </a:t>
            </a:r>
            <a:r>
              <a:rPr lang="hu-HU" dirty="0" err="1"/>
              <a:t>pairs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Data Extractor </a:t>
            </a:r>
            <a:r>
              <a:rPr lang="en-US" dirty="0"/>
              <a:t>then splits these files into smaller pieces — like methods or classes — and stores them with metadata about their origin.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03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the </a:t>
            </a:r>
            <a:r>
              <a:rPr lang="en-US" b="1" dirty="0"/>
              <a:t>Readability Judge </a:t>
            </a:r>
            <a:r>
              <a:rPr lang="en-US" dirty="0"/>
              <a:t>— an LLM — takes a prompt and a list of </a:t>
            </a:r>
            <a:r>
              <a:rPr lang="en-US" dirty="0" err="1"/>
              <a:t>metri</a:t>
            </a:r>
            <a:r>
              <a:rPr lang="hu-HU" dirty="0" err="1"/>
              <a:t>cs</a:t>
            </a:r>
            <a:r>
              <a:rPr lang="hu-HU" dirty="0"/>
              <a:t> (</a:t>
            </a:r>
            <a:r>
              <a:rPr lang="hu-HU" dirty="0" err="1"/>
              <a:t>id</a:t>
            </a:r>
            <a:r>
              <a:rPr lang="hu-HU" dirty="0"/>
              <a:t> and </a:t>
            </a:r>
            <a:r>
              <a:rPr lang="hu-HU" dirty="0" err="1"/>
              <a:t>description</a:t>
            </a:r>
            <a:r>
              <a:rPr lang="hu-HU" dirty="0"/>
              <a:t>)</a:t>
            </a:r>
            <a:r>
              <a:rPr lang="en-US" dirty="0"/>
              <a:t>, and returns scores for subjective metrics. These are </a:t>
            </a:r>
            <a:r>
              <a:rPr lang="hu-HU" dirty="0" err="1"/>
              <a:t>only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en-US" dirty="0"/>
              <a:t>metrics that are hard to calculate algorithmically.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25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en-US" b="1" dirty="0"/>
              <a:t>Metric Calculator </a:t>
            </a:r>
            <a:r>
              <a:rPr lang="en-US" dirty="0"/>
              <a:t>handles the objective side </a:t>
            </a:r>
            <a:r>
              <a:rPr lang="hu-HU" dirty="0"/>
              <a:t>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</a:t>
            </a:r>
            <a:r>
              <a:rPr lang="en-US" dirty="0"/>
              <a:t>— things like average line length, comment density, or lines of code.</a:t>
            </a:r>
            <a:r>
              <a:rPr lang="hu-HU" dirty="0"/>
              <a:t> </a:t>
            </a:r>
            <a:r>
              <a:rPr lang="en-US" dirty="0"/>
              <a:t>These are computed directly from the code, no AI needed.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94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the </a:t>
            </a:r>
            <a:r>
              <a:rPr lang="en-US" b="1" dirty="0"/>
              <a:t>Data Saver </a:t>
            </a:r>
            <a:r>
              <a:rPr lang="en-US" dirty="0"/>
              <a:t>combines everything into a structured JSON file.</a:t>
            </a:r>
          </a:p>
          <a:p>
            <a:r>
              <a:rPr lang="en-US" dirty="0"/>
              <a:t>Each entry includes the code snippet, its source location, and a list of readability scores — both algorithmic and LLM-based.</a:t>
            </a:r>
          </a:p>
          <a:p>
            <a:r>
              <a:rPr lang="en-US" dirty="0"/>
              <a:t>This gives us a complete, reusable dataset</a:t>
            </a:r>
            <a:r>
              <a:rPr lang="hu-HU" dirty="0"/>
              <a:t>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later</a:t>
            </a:r>
            <a:r>
              <a:rPr lang="hu-HU" dirty="0"/>
              <a:t> be </a:t>
            </a:r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training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main output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tool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58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Now</a:t>
            </a:r>
            <a:r>
              <a:rPr lang="hu-HU" dirty="0"/>
              <a:t> I </a:t>
            </a:r>
            <a:r>
              <a:rPr lang="hu-HU" dirty="0" err="1"/>
              <a:t>would</a:t>
            </a:r>
            <a:r>
              <a:rPr lang="hu-HU" dirty="0"/>
              <a:t> like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talk</a:t>
            </a:r>
            <a:r>
              <a:rPr lang="hu-HU" dirty="0"/>
              <a:t> </a:t>
            </a:r>
            <a:r>
              <a:rPr lang="hu-HU" dirty="0" err="1"/>
              <a:t>about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will</a:t>
            </a:r>
            <a:r>
              <a:rPr lang="hu-HU" dirty="0"/>
              <a:t> be </a:t>
            </a:r>
            <a:r>
              <a:rPr lang="hu-HU" dirty="0" err="1"/>
              <a:t>using</a:t>
            </a:r>
            <a:r>
              <a:rPr lang="hu-HU" dirty="0"/>
              <a:t>. </a:t>
            </a:r>
            <a:r>
              <a:rPr lang="en-US" dirty="0"/>
              <a:t>We work with two types of metrics: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Algorithmic metrics, which are easy to compute with code.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LLM-based metrics, which are subjective or too complex to calculate directly — like naming quality or how idiomatic the code is.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57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measure things like indentation consistency, average line length, whitespace usage, and bracing style consistency — all of which affect how clean and organized the code looks.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22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calculate cyclomatic complexity, Halstead metrics like volume and effort, and simply lines of code.</a:t>
            </a:r>
            <a:r>
              <a:rPr lang="hu-HU" dirty="0"/>
              <a:t> </a:t>
            </a:r>
            <a:r>
              <a:rPr lang="en-US" dirty="0"/>
              <a:t>These give us a sense of how difficult the code might be to test or maintain.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69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also look at documentation: comment density and docstring coverage.</a:t>
            </a:r>
          </a:p>
          <a:p>
            <a:r>
              <a:rPr lang="en-US" dirty="0"/>
              <a:t>And naming: average identifier length and how often keywords are </a:t>
            </a:r>
            <a:r>
              <a:rPr lang="hu-HU" dirty="0"/>
              <a:t>„</a:t>
            </a:r>
            <a:r>
              <a:rPr lang="en-US" dirty="0"/>
              <a:t>misused</a:t>
            </a:r>
            <a:r>
              <a:rPr lang="hu-HU" dirty="0"/>
              <a:t>”</a:t>
            </a:r>
            <a:r>
              <a:rPr lang="en-US" dirty="0"/>
              <a:t> as names.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72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for the subjective side.</a:t>
            </a:r>
          </a:p>
          <a:p>
            <a:r>
              <a:rPr lang="en-US" dirty="0"/>
              <a:t>We ask the LLM to evaluate naming: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it follow conventions?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Are names appropriate and consistent?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 they be pronounced?</a:t>
            </a:r>
          </a:p>
          <a:p>
            <a:r>
              <a:rPr lang="en-US" dirty="0"/>
              <a:t>These are things a human would notice — and now an LLM can estimate them.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61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next</a:t>
            </a:r>
            <a:r>
              <a:rPr lang="hu-HU" dirty="0"/>
              <a:t> </a:t>
            </a:r>
            <a:r>
              <a:rPr lang="hu-HU" dirty="0" err="1"/>
              <a:t>questions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about</a:t>
            </a:r>
            <a:r>
              <a:rPr lang="hu-HU" dirty="0"/>
              <a:t> </a:t>
            </a:r>
            <a:r>
              <a:rPr lang="en-US" dirty="0"/>
              <a:t>higher-level complexity: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understandable is the code at first glance?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much cognitive load does it require?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does it make good use of language-specific idioms?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46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Comments are another key area: </a:t>
            </a: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Are they clear and useful? </a:t>
            </a: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they match the code?</a:t>
            </a:r>
          </a:p>
          <a:p>
            <a:r>
              <a:rPr lang="en-US" dirty="0"/>
              <a:t>We also evaluate error handling clarity and</a:t>
            </a:r>
            <a:r>
              <a:rPr lang="hu-HU" dirty="0"/>
              <a:t> </a:t>
            </a:r>
            <a:r>
              <a:rPr lang="hu-HU" dirty="0" err="1"/>
              <a:t>possibly</a:t>
            </a:r>
            <a:r>
              <a:rPr lang="en-US" dirty="0"/>
              <a:t> how well the code follows project-level conventions</a:t>
            </a:r>
            <a:r>
              <a:rPr lang="hu-HU" dirty="0"/>
              <a:t>,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 is </a:t>
            </a:r>
            <a:r>
              <a:rPr lang="hu-HU" dirty="0" err="1"/>
              <a:t>only</a:t>
            </a:r>
            <a:r>
              <a:rPr lang="hu-HU" dirty="0"/>
              <a:t> an idea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now</a:t>
            </a:r>
            <a:r>
              <a:rPr lang="hu-HU" dirty="0"/>
              <a:t>, </a:t>
            </a:r>
            <a:r>
              <a:rPr lang="hu-HU" dirty="0" err="1"/>
              <a:t>since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 </a:t>
            </a:r>
            <a:r>
              <a:rPr lang="hu-HU" dirty="0" err="1"/>
              <a:t>will</a:t>
            </a:r>
            <a:r>
              <a:rPr lang="hu-HU" dirty="0"/>
              <a:t> </a:t>
            </a:r>
            <a:r>
              <a:rPr lang="hu-HU" dirty="0" err="1"/>
              <a:t>only</a:t>
            </a:r>
            <a:r>
              <a:rPr lang="hu-HU" dirty="0"/>
              <a:t> be </a:t>
            </a:r>
            <a:r>
              <a:rPr lang="hu-HU" dirty="0" err="1"/>
              <a:t>useful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large-scale</a:t>
            </a:r>
            <a:r>
              <a:rPr lang="hu-HU" dirty="0"/>
              <a:t>, project-</a:t>
            </a:r>
            <a:r>
              <a:rPr lang="hu-HU" dirty="0" err="1"/>
              <a:t>wide</a:t>
            </a:r>
            <a:r>
              <a:rPr lang="hu-HU" dirty="0"/>
              <a:t> </a:t>
            </a:r>
            <a:r>
              <a:rPr lang="hu-HU" dirty="0" err="1"/>
              <a:t>readabiltiy</a:t>
            </a:r>
            <a:r>
              <a:rPr lang="hu-HU" dirty="0"/>
              <a:t> </a:t>
            </a:r>
            <a:r>
              <a:rPr lang="hu-HU" dirty="0" err="1"/>
              <a:t>analisys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66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using an LLM like this raises questions: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 it reliably assign percentages to things like naming quality?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much can we trust its output?</a:t>
            </a: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That’s why we came up with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following</a:t>
            </a:r>
            <a:r>
              <a:rPr lang="hu-HU" dirty="0"/>
              <a:t> </a:t>
            </a:r>
            <a:r>
              <a:rPr lang="en-US" dirty="0"/>
              <a:t>idea:</a:t>
            </a:r>
          </a:p>
          <a:p>
            <a:r>
              <a:rPr lang="en-US" dirty="0"/>
              <a:t>We’ll create a small test set, have the LLM assign a single overall readability score, and compare it to human evaluations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already</a:t>
            </a:r>
            <a:r>
              <a:rPr lang="hu-HU" dirty="0"/>
              <a:t> </a:t>
            </a:r>
            <a:r>
              <a:rPr lang="hu-HU" dirty="0" err="1"/>
              <a:t>existing</a:t>
            </a:r>
            <a:r>
              <a:rPr lang="hu-HU" dirty="0"/>
              <a:t> and </a:t>
            </a:r>
            <a:r>
              <a:rPr lang="hu-HU" dirty="0" err="1"/>
              <a:t>accepted</a:t>
            </a:r>
            <a:r>
              <a:rPr lang="hu-HU" dirty="0"/>
              <a:t> </a:t>
            </a:r>
            <a:r>
              <a:rPr lang="hu-HU" dirty="0" err="1"/>
              <a:t>evaluations</a:t>
            </a:r>
            <a:r>
              <a:rPr lang="hu-HU" dirty="0"/>
              <a:t> </a:t>
            </a:r>
            <a:r>
              <a:rPr lang="en-US" dirty="0"/>
              <a:t>— to see how well it aligns.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also</a:t>
            </a:r>
            <a:r>
              <a:rPr lang="hu-HU" dirty="0"/>
              <a:t> </a:t>
            </a:r>
            <a:r>
              <a:rPr lang="hu-HU" dirty="0" err="1"/>
              <a:t>questioned</a:t>
            </a:r>
            <a:r>
              <a:rPr lang="hu-HU" dirty="0"/>
              <a:t> </a:t>
            </a:r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LLM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calculate</a:t>
            </a:r>
            <a:r>
              <a:rPr lang="hu-HU" dirty="0"/>
              <a:t> % </a:t>
            </a:r>
            <a:r>
              <a:rPr lang="hu-HU" dirty="0" err="1"/>
              <a:t>values</a:t>
            </a:r>
            <a:r>
              <a:rPr lang="hu-HU" dirty="0"/>
              <a:t> </a:t>
            </a:r>
            <a:r>
              <a:rPr lang="hu-HU" dirty="0" err="1"/>
              <a:t>accurately</a:t>
            </a:r>
            <a:r>
              <a:rPr lang="hu-HU" dirty="0"/>
              <a:t>, </a:t>
            </a:r>
            <a:r>
              <a:rPr lang="hu-HU" dirty="0" err="1"/>
              <a:t>but</a:t>
            </a:r>
            <a:r>
              <a:rPr lang="hu-HU" dirty="0"/>
              <a:t> I </a:t>
            </a:r>
            <a:r>
              <a:rPr lang="hu-HU" dirty="0" err="1"/>
              <a:t>think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now</a:t>
            </a:r>
            <a:r>
              <a:rPr lang="hu-HU" dirty="0"/>
              <a:t> </a:t>
            </a:r>
            <a:r>
              <a:rPr lang="hu-HU" dirty="0" err="1"/>
              <a:t>it</a:t>
            </a:r>
            <a:r>
              <a:rPr lang="hu-HU" dirty="0"/>
              <a:t> is </a:t>
            </a:r>
            <a:r>
              <a:rPr lang="hu-HU" dirty="0" err="1"/>
              <a:t>safe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use</a:t>
            </a:r>
            <a:r>
              <a:rPr lang="hu-HU" dirty="0"/>
              <a:t> </a:t>
            </a:r>
            <a:r>
              <a:rPr lang="hu-HU" dirty="0" err="1"/>
              <a:t>these</a:t>
            </a:r>
            <a:r>
              <a:rPr lang="hu-HU" dirty="0"/>
              <a:t> </a:t>
            </a:r>
            <a:r>
              <a:rPr lang="hu-HU" dirty="0" err="1"/>
              <a:t>values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not</a:t>
            </a:r>
            <a:r>
              <a:rPr lang="hu-HU" dirty="0"/>
              <a:t> </a:t>
            </a:r>
            <a:r>
              <a:rPr lang="hu-HU" dirty="0" err="1"/>
              <a:t>concrete</a:t>
            </a:r>
            <a:r>
              <a:rPr lang="hu-HU" dirty="0"/>
              <a:t> % </a:t>
            </a:r>
            <a:r>
              <a:rPr lang="hu-HU" dirty="0" err="1"/>
              <a:t>values</a:t>
            </a:r>
            <a:r>
              <a:rPr lang="hu-HU" dirty="0"/>
              <a:t>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0-100 </a:t>
            </a:r>
            <a:r>
              <a:rPr lang="hu-HU" dirty="0" err="1"/>
              <a:t>scores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69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where do we stand now?</a:t>
            </a:r>
          </a:p>
          <a:p>
            <a:r>
              <a:rPr lang="en-US" dirty="0"/>
              <a:t>We can already scrape repositories, split files into methods or classes, and use an LLM to estimate subjective metrics.</a:t>
            </a:r>
          </a:p>
          <a:p>
            <a:r>
              <a:rPr lang="en-US" dirty="0"/>
              <a:t>We’ve also implemented several algorithmic metrics and can save everything into structured JSON files.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especially</a:t>
            </a:r>
            <a:r>
              <a:rPr lang="hu-HU" dirty="0"/>
              <a:t> </a:t>
            </a:r>
            <a:r>
              <a:rPr lang="hu-HU" dirty="0" err="1"/>
              <a:t>difficult</a:t>
            </a:r>
            <a:r>
              <a:rPr lang="hu-HU" dirty="0"/>
              <a:t> –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me</a:t>
            </a:r>
            <a:r>
              <a:rPr lang="hu-HU" dirty="0"/>
              <a:t> –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make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 C# project </a:t>
            </a:r>
            <a:r>
              <a:rPr lang="hu-HU" dirty="0" err="1"/>
              <a:t>work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University’s</a:t>
            </a:r>
            <a:r>
              <a:rPr lang="hu-HU" dirty="0"/>
              <a:t> server, and </a:t>
            </a:r>
            <a:r>
              <a:rPr lang="hu-HU" dirty="0" err="1"/>
              <a:t>also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work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GGUF files.</a:t>
            </a:r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50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What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current</a:t>
            </a:r>
            <a:r>
              <a:rPr lang="hu-HU" dirty="0"/>
              <a:t> </a:t>
            </a:r>
            <a:r>
              <a:rPr lang="hu-HU" dirty="0" err="1"/>
              <a:t>plans</a:t>
            </a:r>
            <a:r>
              <a:rPr lang="hu-HU" dirty="0"/>
              <a:t> </a:t>
            </a:r>
            <a:r>
              <a:rPr lang="hu-HU" dirty="0" err="1"/>
              <a:t>going</a:t>
            </a:r>
            <a:r>
              <a:rPr lang="hu-HU" dirty="0"/>
              <a:t> </a:t>
            </a:r>
            <a:r>
              <a:rPr lang="hu-HU" dirty="0" err="1"/>
              <a:t>forward</a:t>
            </a:r>
            <a:r>
              <a:rPr lang="hu-HU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a mode where the LLM gives a single readability score for each snippet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previously</a:t>
            </a:r>
            <a:r>
              <a:rPr lang="hu-HU" dirty="0"/>
              <a:t> </a:t>
            </a:r>
            <a:r>
              <a:rPr lang="hu-HU" dirty="0" err="1"/>
              <a:t>mentioned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Finish implementing the remaining algorithmic metrics.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finally — </a:t>
            </a:r>
            <a:r>
              <a:rPr lang="hu-HU" dirty="0" err="1"/>
              <a:t>implement</a:t>
            </a:r>
            <a:r>
              <a:rPr lang="hu-HU" dirty="0"/>
              <a:t> and </a:t>
            </a:r>
            <a:r>
              <a:rPr lang="en-US" dirty="0"/>
              <a:t>train our own model to estimate subjective metrics without relying on an LLM every time.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46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CCF46-AA30-4227-93D6-4B56902621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6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0622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763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49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8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2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9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0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6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5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A29FCAD-0184-46B6-982A-E03576A83B0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CE388E2-04A5-4A7F-BBF3-F2E0353BE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5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3112D0-6514-8C87-AB5A-8AB2E8790E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cap="small" dirty="0" err="1"/>
              <a:t>Code</a:t>
            </a:r>
            <a:r>
              <a:rPr lang="hu-HU" cap="small" dirty="0"/>
              <a:t> </a:t>
            </a:r>
            <a:r>
              <a:rPr lang="hu-HU" cap="small" dirty="0" err="1"/>
              <a:t>Readability</a:t>
            </a:r>
            <a:r>
              <a:rPr lang="hu-HU" cap="small" dirty="0"/>
              <a:t> Project</a:t>
            </a:r>
            <a:endParaRPr lang="en-US" cap="small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B8C3F98-D56D-3466-BCEB-75EEB4E53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cap="small" dirty="0"/>
              <a:t>Márton Gergő, Szalontai Balázs</a:t>
            </a:r>
            <a:endParaRPr lang="en-US" cap="small" dirty="0"/>
          </a:p>
        </p:txBody>
      </p:sp>
    </p:spTree>
    <p:extLst>
      <p:ext uri="{BB962C8B-B14F-4D97-AF65-F5344CB8AC3E}">
        <p14:creationId xmlns:p14="http://schemas.microsoft.com/office/powerpoint/2010/main" val="401300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15CB8D-C6BE-4751-BFC2-04BAA67E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Goal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Project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26D58-C242-7D95-37FE-76E59BDD7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8595360" cy="4663440"/>
          </a:xfrm>
        </p:spPr>
        <p:txBody>
          <a:bodyPr anchor="ctr">
            <a:normAutofit/>
          </a:bodyPr>
          <a:lstStyle/>
          <a:p>
            <a:r>
              <a:rPr lang="hu-HU" b="1" dirty="0" err="1"/>
              <a:t>What</a:t>
            </a:r>
            <a:r>
              <a:rPr lang="hu-HU" b="1" dirty="0"/>
              <a:t> is </a:t>
            </a:r>
            <a:r>
              <a:rPr lang="hu-HU" b="1" dirty="0" err="1"/>
              <a:t>the</a:t>
            </a:r>
            <a:r>
              <a:rPr lang="hu-HU" b="1" dirty="0"/>
              <a:t> </a:t>
            </a:r>
            <a:r>
              <a:rPr lang="hu-HU" b="1" dirty="0" err="1"/>
              <a:t>original</a:t>
            </a:r>
            <a:r>
              <a:rPr lang="hu-HU" b="1" dirty="0"/>
              <a:t> </a:t>
            </a:r>
            <a:r>
              <a:rPr lang="hu-HU" b="1" dirty="0" err="1"/>
              <a:t>problem</a:t>
            </a:r>
            <a:r>
              <a:rPr lang="hu-HU" b="1" dirty="0"/>
              <a:t>?</a:t>
            </a:r>
          </a:p>
          <a:p>
            <a:pPr lvl="1"/>
            <a:r>
              <a:rPr lang="hu-HU" dirty="0" err="1"/>
              <a:t>Determining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b="1" dirty="0" err="1"/>
              <a:t>readability</a:t>
            </a:r>
            <a:r>
              <a:rPr lang="hu-HU" b="1" dirty="0"/>
              <a:t> of a </a:t>
            </a:r>
            <a:r>
              <a:rPr lang="hu-HU" b="1" dirty="0" err="1"/>
              <a:t>codesnippet</a:t>
            </a:r>
            <a:r>
              <a:rPr lang="hu-HU" b="1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highly</a:t>
            </a:r>
            <a:r>
              <a:rPr lang="hu-HU" dirty="0"/>
              <a:t> </a:t>
            </a:r>
            <a:r>
              <a:rPr lang="hu-HU" b="1" dirty="0" err="1"/>
              <a:t>subjective</a:t>
            </a:r>
            <a:r>
              <a:rPr lang="hu-HU" dirty="0"/>
              <a:t>, </a:t>
            </a:r>
            <a:r>
              <a:rPr lang="hu-HU" dirty="0" err="1"/>
              <a:t>thus</a:t>
            </a:r>
            <a:r>
              <a:rPr lang="hu-HU" dirty="0"/>
              <a:t> </a:t>
            </a:r>
            <a:r>
              <a:rPr lang="hu-HU" dirty="0" err="1"/>
              <a:t>agreeing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an overall </a:t>
            </a:r>
            <a:r>
              <a:rPr lang="hu-HU" dirty="0" err="1"/>
              <a:t>readability</a:t>
            </a:r>
            <a:r>
              <a:rPr lang="hu-HU" dirty="0"/>
              <a:t> </a:t>
            </a:r>
            <a:r>
              <a:rPr lang="hu-HU" dirty="0" err="1"/>
              <a:t>score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rather</a:t>
            </a:r>
            <a:r>
              <a:rPr lang="hu-HU" dirty="0"/>
              <a:t> </a:t>
            </a:r>
            <a:r>
              <a:rPr lang="hu-HU" b="1" dirty="0" err="1"/>
              <a:t>difficult</a:t>
            </a:r>
            <a:endParaRPr lang="hu-HU" b="1" dirty="0"/>
          </a:p>
          <a:p>
            <a:pPr lvl="1"/>
            <a:r>
              <a:rPr lang="hu-HU" dirty="0"/>
              <a:t>The overall </a:t>
            </a:r>
            <a:r>
              <a:rPr lang="hu-HU" dirty="0" err="1"/>
              <a:t>readability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depend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a </a:t>
            </a:r>
            <a:r>
              <a:rPr lang="hu-HU" b="1" dirty="0" err="1"/>
              <a:t>wide</a:t>
            </a:r>
            <a:r>
              <a:rPr lang="hu-HU" b="1" dirty="0"/>
              <a:t> </a:t>
            </a:r>
            <a:r>
              <a:rPr lang="hu-HU" b="1" dirty="0" err="1"/>
              <a:t>range</a:t>
            </a:r>
            <a:r>
              <a:rPr lang="hu-HU" b="1" dirty="0"/>
              <a:t> of </a:t>
            </a:r>
            <a:r>
              <a:rPr lang="hu-HU" b="1" dirty="0" err="1"/>
              <a:t>metrics</a:t>
            </a:r>
            <a:r>
              <a:rPr lang="hu-HU" dirty="0"/>
              <a:t>,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makes</a:t>
            </a:r>
            <a:r>
              <a:rPr lang="hu-HU" dirty="0"/>
              <a:t> </a:t>
            </a:r>
            <a:r>
              <a:rPr lang="hu-HU" b="1" dirty="0" err="1"/>
              <a:t>calculating</a:t>
            </a:r>
            <a:r>
              <a:rPr lang="hu-HU" b="1" dirty="0"/>
              <a:t>/</a:t>
            </a:r>
            <a:r>
              <a:rPr lang="hu-HU" b="1" dirty="0" err="1"/>
              <a:t>estimating</a:t>
            </a:r>
            <a:r>
              <a:rPr lang="hu-HU" b="1" dirty="0"/>
              <a:t> </a:t>
            </a:r>
            <a:r>
              <a:rPr lang="hu-HU" dirty="0"/>
              <a:t>a </a:t>
            </a:r>
            <a:r>
              <a:rPr lang="hu-HU" dirty="0" err="1"/>
              <a:t>value</a:t>
            </a:r>
            <a:r>
              <a:rPr lang="hu-HU" dirty="0"/>
              <a:t> </a:t>
            </a:r>
            <a:r>
              <a:rPr lang="hu-HU" dirty="0" err="1"/>
              <a:t>quite</a:t>
            </a:r>
            <a:r>
              <a:rPr lang="hu-HU" dirty="0"/>
              <a:t> </a:t>
            </a:r>
            <a:r>
              <a:rPr lang="hu-HU" b="1" dirty="0" err="1"/>
              <a:t>demanding</a:t>
            </a:r>
            <a:endParaRPr lang="hu-HU" b="1" dirty="0"/>
          </a:p>
          <a:p>
            <a:pPr lvl="1"/>
            <a:endParaRPr lang="hu-HU" dirty="0"/>
          </a:p>
          <a:p>
            <a:r>
              <a:rPr lang="hu-HU" b="1" dirty="0" err="1"/>
              <a:t>What</a:t>
            </a:r>
            <a:r>
              <a:rPr lang="hu-HU" b="1" dirty="0"/>
              <a:t> is </a:t>
            </a:r>
            <a:r>
              <a:rPr lang="hu-HU" b="1" dirty="0" err="1"/>
              <a:t>the</a:t>
            </a:r>
            <a:r>
              <a:rPr lang="hu-HU" b="1" dirty="0"/>
              <a:t> </a:t>
            </a:r>
            <a:r>
              <a:rPr lang="hu-HU" b="1" dirty="0" err="1"/>
              <a:t>goal</a:t>
            </a:r>
            <a:r>
              <a:rPr lang="hu-HU" b="1" dirty="0"/>
              <a:t> of </a:t>
            </a:r>
            <a:r>
              <a:rPr lang="hu-HU" b="1" dirty="0" err="1"/>
              <a:t>the</a:t>
            </a:r>
            <a:r>
              <a:rPr lang="hu-HU" b="1" dirty="0"/>
              <a:t> project?</a:t>
            </a:r>
          </a:p>
          <a:p>
            <a:pPr lvl="1"/>
            <a:r>
              <a:rPr lang="hu-HU" dirty="0" err="1"/>
              <a:t>Developing</a:t>
            </a:r>
            <a:r>
              <a:rPr lang="hu-HU" dirty="0"/>
              <a:t> and </a:t>
            </a:r>
            <a:r>
              <a:rPr lang="hu-HU" dirty="0" err="1"/>
              <a:t>training</a:t>
            </a:r>
            <a:r>
              <a:rPr lang="hu-HU" dirty="0"/>
              <a:t> a </a:t>
            </a:r>
            <a:r>
              <a:rPr lang="hu-HU" b="1" dirty="0" err="1"/>
              <a:t>model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b="1" dirty="0" err="1"/>
              <a:t>estimate</a:t>
            </a:r>
            <a:r>
              <a:rPr lang="hu-HU" b="1" dirty="0"/>
              <a:t> </a:t>
            </a:r>
            <a:r>
              <a:rPr lang="hu-HU" b="1" dirty="0" err="1"/>
              <a:t>values</a:t>
            </a:r>
            <a:r>
              <a:rPr lang="hu-HU" b="1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subjective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</a:t>
            </a:r>
            <a:r>
              <a:rPr lang="hu-HU" b="1" dirty="0" err="1"/>
              <a:t>accurately</a:t>
            </a:r>
            <a:endParaRPr lang="hu-HU" b="1" dirty="0"/>
          </a:p>
          <a:p>
            <a:pPr lvl="1"/>
            <a:r>
              <a:rPr lang="hu-HU" dirty="0" err="1"/>
              <a:t>Developing</a:t>
            </a:r>
            <a:r>
              <a:rPr lang="hu-HU" dirty="0"/>
              <a:t> a </a:t>
            </a:r>
            <a:r>
              <a:rPr lang="hu-HU" b="1" dirty="0" err="1"/>
              <a:t>tool</a:t>
            </a:r>
            <a:r>
              <a:rPr lang="hu-HU" b="1" dirty="0"/>
              <a:t>/software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b="1" dirty="0" err="1"/>
              <a:t>determine</a:t>
            </a:r>
            <a:r>
              <a:rPr lang="hu-HU" b="1" dirty="0"/>
              <a:t> </a:t>
            </a:r>
            <a:r>
              <a:rPr lang="hu-HU" b="1" dirty="0" err="1"/>
              <a:t>the</a:t>
            </a:r>
            <a:r>
              <a:rPr lang="hu-HU" b="1" dirty="0"/>
              <a:t> </a:t>
            </a:r>
            <a:r>
              <a:rPr lang="hu-HU" b="1" dirty="0" err="1"/>
              <a:t>readability</a:t>
            </a:r>
            <a:r>
              <a:rPr lang="hu-HU" b="1" dirty="0"/>
              <a:t> </a:t>
            </a:r>
            <a:r>
              <a:rPr lang="hu-HU" dirty="0"/>
              <a:t>of </a:t>
            </a:r>
            <a:r>
              <a:rPr lang="hu-HU" dirty="0" err="1"/>
              <a:t>code</a:t>
            </a:r>
            <a:r>
              <a:rPr lang="hu-HU" dirty="0"/>
              <a:t> </a:t>
            </a:r>
            <a:r>
              <a:rPr lang="hu-HU" dirty="0" err="1"/>
              <a:t>snippets</a:t>
            </a:r>
            <a:r>
              <a:rPr lang="hu-HU" dirty="0"/>
              <a:t> of </a:t>
            </a:r>
            <a:r>
              <a:rPr lang="hu-HU" dirty="0" err="1"/>
              <a:t>varying</a:t>
            </a:r>
            <a:r>
              <a:rPr lang="hu-HU" dirty="0"/>
              <a:t> </a:t>
            </a:r>
            <a:r>
              <a:rPr lang="hu-HU" dirty="0" err="1"/>
              <a:t>sizes</a:t>
            </a:r>
            <a:r>
              <a:rPr lang="hu-HU" dirty="0"/>
              <a:t> and </a:t>
            </a:r>
            <a:r>
              <a:rPr lang="hu-HU" dirty="0" err="1"/>
              <a:t>languages</a:t>
            </a:r>
            <a:endParaRPr lang="hu-HU" dirty="0"/>
          </a:p>
          <a:p>
            <a:pPr lvl="1"/>
            <a:endParaRPr lang="hu-HU" dirty="0"/>
          </a:p>
          <a:p>
            <a:r>
              <a:rPr lang="hu-HU" b="1" dirty="0" err="1"/>
              <a:t>What</a:t>
            </a:r>
            <a:r>
              <a:rPr lang="hu-HU" b="1" dirty="0"/>
              <a:t> </a:t>
            </a:r>
            <a:r>
              <a:rPr lang="hu-HU" b="1" dirty="0" err="1"/>
              <a:t>would</a:t>
            </a:r>
            <a:r>
              <a:rPr lang="hu-HU" b="1" dirty="0"/>
              <a:t> be </a:t>
            </a:r>
            <a:r>
              <a:rPr lang="hu-HU" b="1" dirty="0" err="1"/>
              <a:t>the</a:t>
            </a:r>
            <a:r>
              <a:rPr lang="hu-HU" b="1" dirty="0"/>
              <a:t> output of </a:t>
            </a:r>
            <a:r>
              <a:rPr lang="hu-HU" b="1" dirty="0" err="1"/>
              <a:t>said</a:t>
            </a:r>
            <a:r>
              <a:rPr lang="hu-HU" b="1" dirty="0"/>
              <a:t> software?</a:t>
            </a:r>
          </a:p>
          <a:p>
            <a:pPr lvl="1"/>
            <a:r>
              <a:rPr lang="hu-HU" dirty="0"/>
              <a:t>A </a:t>
            </a:r>
            <a:r>
              <a:rPr lang="hu-HU" b="1" dirty="0"/>
              <a:t>JSON file </a:t>
            </a:r>
            <a:r>
              <a:rPr lang="hu-HU" dirty="0"/>
              <a:t>(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files</a:t>
            </a:r>
            <a:r>
              <a:rPr lang="hu-HU" dirty="0"/>
              <a:t>)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contain</a:t>
            </a:r>
            <a:r>
              <a:rPr lang="hu-HU" dirty="0"/>
              <a:t>(s) a </a:t>
            </a:r>
            <a:r>
              <a:rPr lang="hu-HU" dirty="0" err="1"/>
              <a:t>collection</a:t>
            </a:r>
            <a:r>
              <a:rPr lang="hu-HU" dirty="0"/>
              <a:t> of </a:t>
            </a:r>
            <a:r>
              <a:rPr lang="hu-HU" b="1" dirty="0" err="1"/>
              <a:t>metrics</a:t>
            </a:r>
            <a:r>
              <a:rPr lang="hu-HU" b="1" dirty="0"/>
              <a:t> </a:t>
            </a:r>
            <a:r>
              <a:rPr lang="hu-HU" b="1" dirty="0" err="1"/>
              <a:t>along</a:t>
            </a:r>
            <a:r>
              <a:rPr lang="hu-HU" b="1" dirty="0"/>
              <a:t> </a:t>
            </a:r>
            <a:r>
              <a:rPr lang="hu-HU" b="1" dirty="0" err="1"/>
              <a:t>with</a:t>
            </a:r>
            <a:r>
              <a:rPr lang="hu-HU" b="1" dirty="0"/>
              <a:t> </a:t>
            </a:r>
            <a:r>
              <a:rPr lang="hu-HU" b="1" dirty="0" err="1"/>
              <a:t>their</a:t>
            </a:r>
            <a:r>
              <a:rPr lang="hu-HU" b="1" dirty="0"/>
              <a:t> </a:t>
            </a:r>
            <a:r>
              <a:rPr lang="hu-HU" b="1" dirty="0" err="1"/>
              <a:t>respective</a:t>
            </a:r>
            <a:r>
              <a:rPr lang="hu-HU" b="1" dirty="0"/>
              <a:t> </a:t>
            </a:r>
            <a:r>
              <a:rPr lang="hu-HU" b="1" dirty="0" err="1"/>
              <a:t>values</a:t>
            </a:r>
            <a:r>
              <a:rPr lang="hu-HU" dirty="0"/>
              <a:t>, </a:t>
            </a:r>
            <a:r>
              <a:rPr lang="hu-HU" dirty="0" err="1"/>
              <a:t>paired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b="1" dirty="0" err="1"/>
              <a:t>codesnippet</a:t>
            </a:r>
            <a:r>
              <a:rPr lang="hu-HU" dirty="0"/>
              <a:t> </a:t>
            </a:r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calculated</a:t>
            </a:r>
            <a:r>
              <a:rPr lang="hu-HU" dirty="0"/>
              <a:t> </a:t>
            </a:r>
            <a:r>
              <a:rPr lang="hu-HU" dirty="0" err="1"/>
              <a:t>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70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1A6D6C-5BB8-9A40-5AD6-E597C8B8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Reposcraper</a:t>
            </a:r>
            <a:r>
              <a:rPr lang="hu-HU" dirty="0"/>
              <a:t> - </a:t>
            </a:r>
            <a:r>
              <a:rPr lang="hu-HU" dirty="0" err="1"/>
              <a:t>Architecture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5EC4D3-7074-7228-D821-95FCB7068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hu-HU" b="1" u="sng" dirty="0" err="1"/>
              <a:t>Scrapers</a:t>
            </a:r>
            <a:br>
              <a:rPr lang="hu-HU" dirty="0"/>
            </a:br>
            <a:r>
              <a:rPr lang="hu-HU" dirty="0"/>
              <a:t>	</a:t>
            </a:r>
            <a:r>
              <a:rPr lang="hu-HU" sz="2000" i="1" dirty="0" err="1"/>
              <a:t>Scans</a:t>
            </a:r>
            <a:r>
              <a:rPr lang="hu-HU" sz="2000" i="1" dirty="0"/>
              <a:t> and </a:t>
            </a:r>
            <a:r>
              <a:rPr lang="hu-HU" sz="2000" i="1" dirty="0" err="1"/>
              <a:t>fetches</a:t>
            </a:r>
            <a:r>
              <a:rPr lang="hu-HU" sz="2000" i="1" dirty="0"/>
              <a:t> </a:t>
            </a:r>
            <a:r>
              <a:rPr lang="hu-HU" sz="2000" i="1" dirty="0" err="1"/>
              <a:t>appropriate</a:t>
            </a:r>
            <a:r>
              <a:rPr lang="hu-HU" sz="2000" i="1" dirty="0"/>
              <a:t> </a:t>
            </a:r>
            <a:r>
              <a:rPr lang="hu-HU" sz="2000" i="1" dirty="0" err="1"/>
              <a:t>files</a:t>
            </a:r>
            <a:r>
              <a:rPr lang="hu-HU" sz="2000" i="1" dirty="0"/>
              <a:t> </a:t>
            </a:r>
            <a:r>
              <a:rPr lang="hu-HU" sz="2000" i="1" dirty="0" err="1"/>
              <a:t>from</a:t>
            </a:r>
            <a:r>
              <a:rPr lang="hu-HU" sz="2000" i="1" dirty="0"/>
              <a:t> </a:t>
            </a:r>
            <a:r>
              <a:rPr lang="hu-HU" sz="2000" i="1" dirty="0" err="1"/>
              <a:t>the</a:t>
            </a:r>
            <a:r>
              <a:rPr lang="hu-HU" sz="2000" i="1" dirty="0"/>
              <a:t> </a:t>
            </a:r>
            <a:r>
              <a:rPr lang="hu-HU" sz="2000" i="1" dirty="0" err="1"/>
              <a:t>parameter</a:t>
            </a:r>
            <a:r>
              <a:rPr lang="hu-HU" sz="2000" i="1" dirty="0"/>
              <a:t> </a:t>
            </a:r>
            <a:r>
              <a:rPr lang="hu-HU" sz="2000" i="1" dirty="0" err="1"/>
              <a:t>repository</a:t>
            </a:r>
            <a:r>
              <a:rPr lang="hu-HU" sz="2000" i="1" dirty="0"/>
              <a:t> (GitHub, </a:t>
            </a:r>
            <a:r>
              <a:rPr lang="hu-HU" sz="2000" i="1" dirty="0" err="1"/>
              <a:t>GitLab</a:t>
            </a:r>
            <a:r>
              <a:rPr lang="hu-HU" sz="2000" i="1" dirty="0"/>
              <a:t>, </a:t>
            </a:r>
            <a:r>
              <a:rPr lang="hu-HU" sz="2000" i="1" dirty="0" err="1"/>
              <a:t>etc</a:t>
            </a:r>
            <a:r>
              <a:rPr lang="hu-HU" sz="2000" i="1" dirty="0"/>
              <a:t>)</a:t>
            </a:r>
            <a:endParaRPr lang="hu-HU" i="1" dirty="0"/>
          </a:p>
          <a:p>
            <a:pPr marL="514350" indent="-514350">
              <a:buFont typeface="+mj-lt"/>
              <a:buAutoNum type="arabicPeriod"/>
            </a:pPr>
            <a:r>
              <a:rPr lang="hu-HU" b="1" u="sng" dirty="0"/>
              <a:t>Data </a:t>
            </a:r>
            <a:r>
              <a:rPr lang="hu-HU" b="1" u="sng" dirty="0" err="1"/>
              <a:t>Extractors</a:t>
            </a:r>
            <a:br>
              <a:rPr lang="hu-HU" dirty="0"/>
            </a:br>
            <a:r>
              <a:rPr lang="hu-HU" dirty="0"/>
              <a:t>	</a:t>
            </a:r>
            <a:r>
              <a:rPr lang="hu-HU" sz="2000" i="1" dirty="0" err="1"/>
              <a:t>Splits</a:t>
            </a:r>
            <a:r>
              <a:rPr lang="hu-HU" sz="2000" i="1" dirty="0"/>
              <a:t> </a:t>
            </a:r>
            <a:r>
              <a:rPr lang="hu-HU" sz="2000" i="1" dirty="0" err="1"/>
              <a:t>the</a:t>
            </a:r>
            <a:r>
              <a:rPr lang="hu-HU" sz="2000" i="1" dirty="0"/>
              <a:t> </a:t>
            </a:r>
            <a:r>
              <a:rPr lang="hu-HU" sz="2000" i="1" dirty="0" err="1"/>
              <a:t>repository’s</a:t>
            </a:r>
            <a:r>
              <a:rPr lang="hu-HU" sz="2000" i="1" dirty="0"/>
              <a:t> </a:t>
            </a:r>
            <a:r>
              <a:rPr lang="hu-HU" sz="2000" i="1" dirty="0" err="1"/>
              <a:t>files</a:t>
            </a:r>
            <a:r>
              <a:rPr lang="hu-HU" sz="2000" i="1" dirty="0"/>
              <a:t> </a:t>
            </a:r>
            <a:r>
              <a:rPr lang="hu-HU" sz="2000" i="1" dirty="0" err="1"/>
              <a:t>into</a:t>
            </a:r>
            <a:r>
              <a:rPr lang="hu-HU" sz="2000" i="1" dirty="0"/>
              <a:t> </a:t>
            </a:r>
            <a:r>
              <a:rPr lang="hu-HU" sz="2000" i="1" dirty="0" err="1"/>
              <a:t>specified</a:t>
            </a:r>
            <a:r>
              <a:rPr lang="hu-HU" sz="2000" i="1" dirty="0"/>
              <a:t> </a:t>
            </a:r>
            <a:r>
              <a:rPr lang="hu-HU" sz="2000" i="1" dirty="0" err="1"/>
              <a:t>smaller</a:t>
            </a:r>
            <a:r>
              <a:rPr lang="hu-HU" sz="2000" i="1" dirty="0"/>
              <a:t> </a:t>
            </a:r>
            <a:r>
              <a:rPr lang="hu-HU" sz="2000" i="1" dirty="0" err="1"/>
              <a:t>parts</a:t>
            </a:r>
            <a:r>
              <a:rPr lang="hu-HU" sz="2000" i="1" dirty="0"/>
              <a:t> (</a:t>
            </a:r>
            <a:r>
              <a:rPr lang="hu-HU" sz="2000" i="1" dirty="0" err="1"/>
              <a:t>classes</a:t>
            </a:r>
            <a:r>
              <a:rPr lang="hu-HU" sz="2000" i="1" dirty="0"/>
              <a:t>, </a:t>
            </a:r>
            <a:r>
              <a:rPr lang="hu-HU" sz="2000" i="1" dirty="0" err="1"/>
              <a:t>methods</a:t>
            </a:r>
            <a:r>
              <a:rPr lang="hu-HU" sz="2000" i="1" dirty="0"/>
              <a:t>)</a:t>
            </a:r>
            <a:endParaRPr lang="hu-HU" i="1" dirty="0"/>
          </a:p>
          <a:p>
            <a:pPr marL="514350" indent="-514350">
              <a:buFont typeface="+mj-lt"/>
              <a:buAutoNum type="arabicPeriod"/>
            </a:pPr>
            <a:r>
              <a:rPr lang="hu-HU" b="1" u="sng" dirty="0" err="1"/>
              <a:t>Readability</a:t>
            </a:r>
            <a:r>
              <a:rPr lang="hu-HU" b="1" u="sng" dirty="0"/>
              <a:t> </a:t>
            </a:r>
            <a:r>
              <a:rPr lang="hu-HU" b="1" u="sng" dirty="0" err="1"/>
              <a:t>Judges</a:t>
            </a:r>
            <a:br>
              <a:rPr lang="hu-HU" dirty="0"/>
            </a:br>
            <a:r>
              <a:rPr lang="hu-HU" dirty="0"/>
              <a:t>	</a:t>
            </a:r>
            <a:r>
              <a:rPr lang="hu-HU" sz="2000" i="1" dirty="0"/>
              <a:t>An LLM </a:t>
            </a:r>
            <a:r>
              <a:rPr lang="hu-HU" sz="2000" i="1" dirty="0" err="1"/>
              <a:t>that</a:t>
            </a:r>
            <a:r>
              <a:rPr lang="hu-HU" sz="2000" i="1" dirty="0"/>
              <a:t> </a:t>
            </a:r>
            <a:r>
              <a:rPr lang="hu-HU" sz="2000" i="1" dirty="0" err="1"/>
              <a:t>determines</a:t>
            </a:r>
            <a:r>
              <a:rPr lang="hu-HU" sz="2000" i="1" dirty="0"/>
              <a:t> </a:t>
            </a:r>
            <a:r>
              <a:rPr lang="hu-HU" sz="2000" i="1" dirty="0" err="1"/>
              <a:t>values</a:t>
            </a:r>
            <a:r>
              <a:rPr lang="hu-HU" sz="2000" i="1" dirty="0"/>
              <a:t> </a:t>
            </a:r>
            <a:r>
              <a:rPr lang="hu-HU" sz="2000" i="1" dirty="0" err="1"/>
              <a:t>for</a:t>
            </a:r>
            <a:r>
              <a:rPr lang="hu-HU" sz="2000" i="1" dirty="0"/>
              <a:t> </a:t>
            </a:r>
            <a:r>
              <a:rPr lang="hu-HU" sz="2000" i="1" dirty="0" err="1"/>
              <a:t>the</a:t>
            </a:r>
            <a:r>
              <a:rPr lang="hu-HU" sz="2000" i="1" dirty="0"/>
              <a:t> non-</a:t>
            </a:r>
            <a:r>
              <a:rPr lang="hu-HU" sz="2000" i="1" dirty="0" err="1"/>
              <a:t>algorithmical</a:t>
            </a:r>
            <a:r>
              <a:rPr lang="hu-HU" sz="2000" i="1" dirty="0"/>
              <a:t> </a:t>
            </a:r>
            <a:r>
              <a:rPr lang="hu-HU" sz="2000" i="1" dirty="0" err="1"/>
              <a:t>readability</a:t>
            </a:r>
            <a:r>
              <a:rPr lang="hu-HU" sz="2000" i="1" dirty="0"/>
              <a:t> </a:t>
            </a:r>
            <a:r>
              <a:rPr lang="hu-HU" sz="2000" i="1" dirty="0" err="1"/>
              <a:t>metrics</a:t>
            </a:r>
            <a:r>
              <a:rPr lang="hu-HU" sz="2000" i="1" dirty="0"/>
              <a:t> (</a:t>
            </a:r>
            <a:r>
              <a:rPr lang="hu-HU" sz="2000" i="1" dirty="0" err="1"/>
              <a:t>naming</a:t>
            </a:r>
            <a:r>
              <a:rPr lang="hu-HU" sz="2000" i="1" dirty="0"/>
              <a:t> </a:t>
            </a:r>
            <a:r>
              <a:rPr lang="hu-HU" sz="2000" i="1" dirty="0" err="1"/>
              <a:t>quality</a:t>
            </a:r>
            <a:r>
              <a:rPr lang="hu-HU" sz="2000" i="1" dirty="0"/>
              <a:t>, </a:t>
            </a:r>
            <a:r>
              <a:rPr lang="hu-HU" sz="2000" i="1" dirty="0" err="1"/>
              <a:t>high-level</a:t>
            </a:r>
            <a:r>
              <a:rPr lang="hu-HU" sz="2000" i="1" dirty="0"/>
              <a:t> </a:t>
            </a:r>
            <a:r>
              <a:rPr lang="hu-HU" sz="2000" i="1" dirty="0" err="1"/>
              <a:t>undestandability</a:t>
            </a:r>
            <a:r>
              <a:rPr lang="hu-HU" sz="2000" i="1" dirty="0"/>
              <a:t>, </a:t>
            </a:r>
            <a:r>
              <a:rPr lang="hu-HU" sz="2000" i="1" dirty="0" err="1"/>
              <a:t>use</a:t>
            </a:r>
            <a:r>
              <a:rPr lang="hu-HU" sz="2000" i="1" dirty="0"/>
              <a:t> of </a:t>
            </a:r>
            <a:r>
              <a:rPr lang="hu-HU" sz="2000" i="1" dirty="0" err="1"/>
              <a:t>idioms</a:t>
            </a:r>
            <a:r>
              <a:rPr lang="hu-HU" sz="2000" i="1" dirty="0"/>
              <a:t>, </a:t>
            </a:r>
            <a:r>
              <a:rPr lang="hu-HU" sz="2000" i="1" dirty="0" err="1"/>
              <a:t>etc</a:t>
            </a:r>
            <a:r>
              <a:rPr lang="hu-HU" sz="2000" i="1" dirty="0"/>
              <a:t>)</a:t>
            </a:r>
            <a:endParaRPr lang="hu-HU" i="1" dirty="0"/>
          </a:p>
          <a:p>
            <a:pPr marL="514350" indent="-514350">
              <a:buFont typeface="+mj-lt"/>
              <a:buAutoNum type="arabicPeriod"/>
            </a:pPr>
            <a:r>
              <a:rPr lang="hu-HU" b="1" u="sng" dirty="0" err="1"/>
              <a:t>Metric</a:t>
            </a:r>
            <a:r>
              <a:rPr lang="hu-HU" b="1" u="sng" dirty="0"/>
              <a:t> </a:t>
            </a:r>
            <a:r>
              <a:rPr lang="hu-HU" b="1" u="sng" dirty="0" err="1"/>
              <a:t>Calculator</a:t>
            </a:r>
            <a:br>
              <a:rPr lang="hu-HU" dirty="0"/>
            </a:br>
            <a:r>
              <a:rPr lang="hu-HU" sz="2000" dirty="0"/>
              <a:t>	</a:t>
            </a:r>
            <a:r>
              <a:rPr lang="hu-HU" sz="2000" i="1" dirty="0" err="1"/>
              <a:t>Calculates</a:t>
            </a:r>
            <a:r>
              <a:rPr lang="hu-HU" sz="2000" i="1" dirty="0"/>
              <a:t> </a:t>
            </a:r>
            <a:r>
              <a:rPr lang="hu-HU" sz="2000" i="1" dirty="0" err="1"/>
              <a:t>the</a:t>
            </a:r>
            <a:r>
              <a:rPr lang="hu-HU" sz="2000" i="1" dirty="0"/>
              <a:t> </a:t>
            </a:r>
            <a:r>
              <a:rPr lang="hu-HU" sz="2000" i="1" dirty="0" err="1"/>
              <a:t>values</a:t>
            </a:r>
            <a:r>
              <a:rPr lang="hu-HU" sz="2000" i="1" dirty="0"/>
              <a:t> </a:t>
            </a:r>
            <a:r>
              <a:rPr lang="hu-HU" sz="2000" i="1" dirty="0" err="1"/>
              <a:t>for</a:t>
            </a:r>
            <a:r>
              <a:rPr lang="hu-HU" sz="2000" i="1" dirty="0"/>
              <a:t> </a:t>
            </a:r>
            <a:r>
              <a:rPr lang="hu-HU" sz="2000" i="1" dirty="0" err="1"/>
              <a:t>the</a:t>
            </a:r>
            <a:r>
              <a:rPr lang="hu-HU" sz="2000" i="1" dirty="0"/>
              <a:t> </a:t>
            </a:r>
            <a:r>
              <a:rPr lang="hu-HU" sz="2000" i="1" dirty="0" err="1"/>
              <a:t>algorithmical</a:t>
            </a:r>
            <a:r>
              <a:rPr lang="hu-HU" sz="2000" i="1" dirty="0"/>
              <a:t> </a:t>
            </a:r>
            <a:r>
              <a:rPr lang="hu-HU" sz="2000" i="1" dirty="0" err="1"/>
              <a:t>readability</a:t>
            </a:r>
            <a:r>
              <a:rPr lang="hu-HU" sz="2000" i="1" dirty="0"/>
              <a:t> </a:t>
            </a:r>
            <a:r>
              <a:rPr lang="hu-HU" sz="2000" i="1" dirty="0" err="1"/>
              <a:t>metrics</a:t>
            </a:r>
            <a:r>
              <a:rPr lang="hu-HU" sz="2000" i="1" dirty="0"/>
              <a:t> (</a:t>
            </a:r>
            <a:r>
              <a:rPr lang="hu-HU" sz="2000" i="1" dirty="0" err="1"/>
              <a:t>nesting</a:t>
            </a:r>
            <a:r>
              <a:rPr lang="hu-HU" sz="2000" i="1" dirty="0"/>
              <a:t> </a:t>
            </a:r>
            <a:r>
              <a:rPr lang="hu-HU" sz="2000" i="1" dirty="0" err="1"/>
              <a:t>depth</a:t>
            </a:r>
            <a:r>
              <a:rPr lang="hu-HU" sz="2000" i="1" dirty="0"/>
              <a:t>, </a:t>
            </a:r>
            <a:r>
              <a:rPr lang="hu-HU" sz="2000" i="1" dirty="0" err="1"/>
              <a:t>cyclomatic</a:t>
            </a:r>
            <a:r>
              <a:rPr lang="hu-HU" sz="2000" i="1" dirty="0"/>
              <a:t> </a:t>
            </a:r>
            <a:r>
              <a:rPr lang="hu-HU" sz="2000" i="1" dirty="0" err="1"/>
              <a:t>complexity</a:t>
            </a:r>
            <a:r>
              <a:rPr lang="hu-HU" sz="2000" i="1" dirty="0"/>
              <a:t>)</a:t>
            </a:r>
            <a:endParaRPr lang="hu-HU" i="1" dirty="0"/>
          </a:p>
          <a:p>
            <a:pPr marL="514350" indent="-514350">
              <a:buFont typeface="+mj-lt"/>
              <a:buAutoNum type="arabicPeriod"/>
            </a:pPr>
            <a:r>
              <a:rPr lang="hu-HU" b="1" u="sng" dirty="0"/>
              <a:t>Data </a:t>
            </a:r>
            <a:r>
              <a:rPr lang="hu-HU" b="1" u="sng" dirty="0" err="1"/>
              <a:t>Saver</a:t>
            </a:r>
            <a:br>
              <a:rPr lang="hu-HU" dirty="0"/>
            </a:br>
            <a:r>
              <a:rPr lang="hu-HU" dirty="0"/>
              <a:t>	</a:t>
            </a:r>
            <a:r>
              <a:rPr lang="hu-HU" sz="2000" i="1" dirty="0" err="1"/>
              <a:t>Saves</a:t>
            </a:r>
            <a:r>
              <a:rPr lang="hu-HU" sz="2000" i="1" dirty="0"/>
              <a:t> </a:t>
            </a:r>
            <a:r>
              <a:rPr lang="hu-HU" sz="2000" i="1" dirty="0" err="1"/>
              <a:t>the</a:t>
            </a:r>
            <a:r>
              <a:rPr lang="hu-HU" sz="2000" i="1" dirty="0"/>
              <a:t> </a:t>
            </a:r>
            <a:r>
              <a:rPr lang="hu-HU" sz="2000" i="1" dirty="0" err="1"/>
              <a:t>code</a:t>
            </a:r>
            <a:r>
              <a:rPr lang="hu-HU" sz="2000" i="1" dirty="0"/>
              <a:t> </a:t>
            </a:r>
            <a:r>
              <a:rPr lang="hu-HU" sz="2000" i="1" dirty="0" err="1"/>
              <a:t>snippets</a:t>
            </a:r>
            <a:r>
              <a:rPr lang="hu-HU" sz="2000" i="1" dirty="0"/>
              <a:t> </a:t>
            </a:r>
            <a:r>
              <a:rPr lang="hu-HU" sz="2000" i="1" dirty="0" err="1"/>
              <a:t>with</a:t>
            </a:r>
            <a:r>
              <a:rPr lang="hu-HU" sz="2000" i="1" dirty="0"/>
              <a:t> </a:t>
            </a:r>
            <a:r>
              <a:rPr lang="hu-HU" sz="2000" i="1" dirty="0" err="1"/>
              <a:t>their</a:t>
            </a:r>
            <a:r>
              <a:rPr lang="hu-HU" sz="2000" i="1" dirty="0"/>
              <a:t> </a:t>
            </a:r>
            <a:r>
              <a:rPr lang="hu-HU" sz="2000" i="1" dirty="0" err="1"/>
              <a:t>respective</a:t>
            </a:r>
            <a:r>
              <a:rPr lang="hu-HU" sz="2000" i="1" dirty="0"/>
              <a:t> </a:t>
            </a:r>
            <a:r>
              <a:rPr lang="hu-HU" sz="2000" i="1" dirty="0" err="1"/>
              <a:t>readability</a:t>
            </a:r>
            <a:r>
              <a:rPr lang="hu-HU" sz="2000" i="1" dirty="0"/>
              <a:t> </a:t>
            </a:r>
            <a:r>
              <a:rPr lang="hu-HU" sz="2000" i="1" dirty="0" err="1"/>
              <a:t>values</a:t>
            </a:r>
            <a:r>
              <a:rPr lang="hu-HU" sz="2000" i="1" dirty="0"/>
              <a:t> </a:t>
            </a:r>
            <a:r>
              <a:rPr lang="hu-HU" sz="2000" i="1" dirty="0" err="1"/>
              <a:t>into</a:t>
            </a:r>
            <a:r>
              <a:rPr lang="hu-HU" sz="2000" i="1" dirty="0"/>
              <a:t> JSON </a:t>
            </a:r>
            <a:r>
              <a:rPr lang="hu-HU" sz="2000" i="1" dirty="0" err="1"/>
              <a:t>format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80331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1A6D6C-5BB8-9A40-5AD6-E597C8B8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Reposcraper</a:t>
            </a:r>
            <a:r>
              <a:rPr lang="hu-HU" dirty="0"/>
              <a:t> – </a:t>
            </a:r>
            <a:r>
              <a:rPr lang="hu-HU" dirty="0" err="1"/>
              <a:t>Inputs</a:t>
            </a:r>
            <a:r>
              <a:rPr lang="hu-HU" dirty="0"/>
              <a:t> &amp; </a:t>
            </a:r>
            <a:r>
              <a:rPr lang="hu-HU" dirty="0" err="1"/>
              <a:t>Outputs</a:t>
            </a:r>
            <a:r>
              <a:rPr lang="hu-HU" dirty="0"/>
              <a:t> #1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5EC4D3-7074-7228-D821-95FCB7068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spcBef>
                <a:spcPts val="1200"/>
              </a:spcBef>
            </a:pPr>
            <a:r>
              <a:rPr lang="hu-HU" sz="2400" b="1" dirty="0" err="1"/>
              <a:t>Scrapers</a:t>
            </a:r>
            <a:r>
              <a:rPr lang="hu-HU" sz="2400" b="1" dirty="0"/>
              <a:t>:</a:t>
            </a:r>
          </a:p>
          <a:p>
            <a:pPr lvl="1">
              <a:spcBef>
                <a:spcPts val="1200"/>
              </a:spcBef>
            </a:pPr>
            <a:r>
              <a:rPr lang="hu-HU" sz="2200" i="1" dirty="0"/>
              <a:t>(</a:t>
            </a:r>
            <a:r>
              <a:rPr lang="hu-HU" sz="2200" i="1" dirty="0" err="1"/>
              <a:t>repo_path</a:t>
            </a:r>
            <a:r>
              <a:rPr lang="hu-HU" sz="2200" i="1" dirty="0"/>
              <a:t>, </a:t>
            </a:r>
            <a:r>
              <a:rPr lang="hu-HU" sz="2200" i="1" dirty="0" err="1"/>
              <a:t>prog_lang</a:t>
            </a:r>
            <a:r>
              <a:rPr lang="hu-HU" sz="2200" i="1" dirty="0"/>
              <a:t>) → (</a:t>
            </a:r>
            <a:r>
              <a:rPr lang="hu-HU" sz="2200" i="1" dirty="0" err="1"/>
              <a:t>repo_data</a:t>
            </a:r>
            <a:r>
              <a:rPr lang="hu-HU" sz="2200" i="1" dirty="0"/>
              <a:t>, </a:t>
            </a:r>
            <a:r>
              <a:rPr lang="hu-HU" sz="2200" i="1" dirty="0" err="1"/>
              <a:t>files</a:t>
            </a:r>
            <a:r>
              <a:rPr lang="hu-HU" sz="2200" i="1" dirty="0"/>
              <a:t>)</a:t>
            </a:r>
          </a:p>
          <a:p>
            <a:pPr lvl="1">
              <a:spcBef>
                <a:spcPts val="1200"/>
              </a:spcBef>
            </a:pPr>
            <a:r>
              <a:rPr lang="hu-HU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</a:t>
            </a:r>
            <a:r>
              <a:rPr lang="hu-HU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Data: </a:t>
            </a:r>
            <a:r>
              <a:rPr lang="hu-HU" sz="2200" dirty="0"/>
              <a:t>{ </a:t>
            </a:r>
            <a:r>
              <a:rPr lang="hu-HU" sz="2200" i="1" dirty="0" err="1"/>
              <a:t>name</a:t>
            </a:r>
            <a:r>
              <a:rPr lang="hu-HU" sz="2200" i="1" dirty="0"/>
              <a:t>, </a:t>
            </a:r>
            <a:r>
              <a:rPr lang="hu-HU" sz="2200" i="1" dirty="0" err="1"/>
              <a:t>owner</a:t>
            </a:r>
            <a:r>
              <a:rPr lang="hu-HU" sz="2200" i="1" dirty="0"/>
              <a:t>, </a:t>
            </a:r>
            <a:r>
              <a:rPr lang="hu-HU" sz="2200" i="1" dirty="0" err="1"/>
              <a:t>path</a:t>
            </a:r>
            <a:r>
              <a:rPr lang="hu-HU" sz="2200" dirty="0"/>
              <a:t> }</a:t>
            </a:r>
          </a:p>
          <a:p>
            <a:pPr lvl="1">
              <a:spcBef>
                <a:spcPts val="1200"/>
              </a:spcBef>
            </a:pPr>
            <a:r>
              <a:rPr lang="hu-HU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</a:t>
            </a:r>
            <a:r>
              <a:rPr lang="hu-HU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hu-HU" sz="2200" dirty="0"/>
              <a:t>{ </a:t>
            </a:r>
            <a:r>
              <a:rPr lang="hu-HU" sz="2200" i="1" dirty="0" err="1"/>
              <a:t>repo_data</a:t>
            </a:r>
            <a:r>
              <a:rPr lang="hu-HU" sz="2200" i="1" dirty="0"/>
              <a:t>, </a:t>
            </a:r>
            <a:r>
              <a:rPr lang="hu-HU" sz="2200" i="1" dirty="0" err="1"/>
              <a:t>name</a:t>
            </a:r>
            <a:r>
              <a:rPr lang="hu-HU" sz="2200" i="1" dirty="0"/>
              <a:t>, </a:t>
            </a:r>
            <a:r>
              <a:rPr lang="hu-HU" sz="2200" i="1" dirty="0" err="1"/>
              <a:t>path</a:t>
            </a:r>
            <a:r>
              <a:rPr lang="hu-HU" sz="2200" dirty="0"/>
              <a:t> }</a:t>
            </a:r>
            <a:endParaRPr lang="hu-HU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800"/>
              </a:spcBef>
            </a:pPr>
            <a:r>
              <a:rPr lang="hu-HU" sz="2400" b="1" dirty="0"/>
              <a:t>Data </a:t>
            </a:r>
            <a:r>
              <a:rPr lang="hu-HU" sz="2400" b="1" dirty="0" err="1"/>
              <a:t>Extractors</a:t>
            </a:r>
            <a:r>
              <a:rPr lang="hu-HU" sz="2400" b="1" dirty="0"/>
              <a:t>:</a:t>
            </a:r>
          </a:p>
          <a:p>
            <a:pPr lvl="1">
              <a:spcBef>
                <a:spcPts val="1200"/>
              </a:spcBef>
            </a:pPr>
            <a:r>
              <a:rPr lang="hu-HU" sz="2200" i="1" dirty="0"/>
              <a:t>(</a:t>
            </a:r>
            <a:r>
              <a:rPr lang="hu-HU" sz="2200" i="1" dirty="0" err="1"/>
              <a:t>files</a:t>
            </a:r>
            <a:r>
              <a:rPr lang="hu-HU" sz="2200" i="1" dirty="0"/>
              <a:t>, </a:t>
            </a:r>
            <a:r>
              <a:rPr lang="hu-HU" sz="2200" i="1" dirty="0" err="1"/>
              <a:t>desired_size</a:t>
            </a:r>
            <a:r>
              <a:rPr lang="hu-HU" sz="2200" i="1" dirty="0"/>
              <a:t>) → (</a:t>
            </a:r>
            <a:r>
              <a:rPr lang="hu-HU" sz="2200" i="1" dirty="0" err="1"/>
              <a:t>file_name</a:t>
            </a:r>
            <a:r>
              <a:rPr lang="hu-HU" sz="2200" i="1" dirty="0"/>
              <a:t>, </a:t>
            </a:r>
            <a:r>
              <a:rPr lang="hu-HU" sz="2200" i="1" dirty="0" err="1"/>
              <a:t>extraction_results</a:t>
            </a:r>
            <a:r>
              <a:rPr lang="hu-HU" sz="2200" i="1" dirty="0"/>
              <a:t>)</a:t>
            </a:r>
          </a:p>
          <a:p>
            <a:pPr lvl="1">
              <a:spcBef>
                <a:spcPts val="1200"/>
              </a:spcBef>
            </a:pPr>
            <a:r>
              <a:rPr lang="hu-HU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Extraction</a:t>
            </a:r>
            <a:r>
              <a:rPr lang="hu-HU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</a:t>
            </a:r>
            <a:r>
              <a:rPr lang="hu-HU" sz="2200" dirty="0"/>
              <a:t>: { </a:t>
            </a:r>
            <a:r>
              <a:rPr lang="hu-HU" sz="2200" i="1" dirty="0" err="1"/>
              <a:t>source_file</a:t>
            </a:r>
            <a:r>
              <a:rPr lang="hu-HU" sz="2200" i="1" dirty="0"/>
              <a:t>, </a:t>
            </a:r>
            <a:r>
              <a:rPr lang="hu-HU" sz="2200" i="1" dirty="0" err="1"/>
              <a:t>is_success</a:t>
            </a:r>
            <a:r>
              <a:rPr lang="hu-HU" sz="2200" i="1" dirty="0"/>
              <a:t>, </a:t>
            </a:r>
            <a:r>
              <a:rPr lang="hu-HU" sz="2200" i="1" dirty="0" err="1"/>
              <a:t>extracted_data</a:t>
            </a:r>
            <a:r>
              <a:rPr lang="hu-HU" sz="2200" i="1" dirty="0"/>
              <a:t> </a:t>
            </a:r>
            <a:r>
              <a:rPr lang="hu-HU" sz="2200" dirty="0"/>
              <a:t>}</a:t>
            </a:r>
            <a:endParaRPr 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2823949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1A6D6C-5BB8-9A40-5AD6-E597C8B8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Reposcraper</a:t>
            </a:r>
            <a:r>
              <a:rPr lang="hu-HU" dirty="0"/>
              <a:t> – </a:t>
            </a:r>
            <a:r>
              <a:rPr lang="hu-HU" dirty="0" err="1"/>
              <a:t>Inputs</a:t>
            </a:r>
            <a:r>
              <a:rPr lang="hu-HU" dirty="0"/>
              <a:t> &amp; </a:t>
            </a:r>
            <a:r>
              <a:rPr lang="hu-HU" dirty="0" err="1"/>
              <a:t>Outputs</a:t>
            </a:r>
            <a:r>
              <a:rPr lang="hu-HU" dirty="0"/>
              <a:t> #2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5EC4D3-7074-7228-D821-95FCB7068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692640" cy="4351337"/>
          </a:xfrm>
        </p:spPr>
        <p:txBody>
          <a:bodyPr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hu-HU" sz="2400" b="1" dirty="0" err="1"/>
              <a:t>Readability</a:t>
            </a:r>
            <a:r>
              <a:rPr lang="hu-HU" sz="2400" b="1" dirty="0"/>
              <a:t> </a:t>
            </a:r>
            <a:r>
              <a:rPr lang="hu-HU" sz="2400" b="1" dirty="0" err="1"/>
              <a:t>Judge</a:t>
            </a:r>
            <a:r>
              <a:rPr lang="hu-HU" sz="2400" b="1" dirty="0"/>
              <a:t>:</a:t>
            </a:r>
          </a:p>
          <a:p>
            <a:pPr lvl="1">
              <a:spcBef>
                <a:spcPts val="1200"/>
              </a:spcBef>
            </a:pPr>
            <a:r>
              <a:rPr lang="hu-HU" sz="2200" i="1" dirty="0"/>
              <a:t>(prompt, </a:t>
            </a:r>
            <a:r>
              <a:rPr lang="hu-HU" sz="2200" i="1" dirty="0" err="1"/>
              <a:t>metric_ids</a:t>
            </a:r>
            <a:r>
              <a:rPr lang="hu-HU" sz="2200" i="1" dirty="0"/>
              <a:t>) → </a:t>
            </a:r>
            <a:r>
              <a:rPr lang="hu-HU" sz="2200" i="1" dirty="0" err="1"/>
              <a:t>json</a:t>
            </a:r>
            <a:r>
              <a:rPr lang="hu-HU" sz="2200" i="1" dirty="0"/>
              <a:t>(</a:t>
            </a:r>
            <a:r>
              <a:rPr lang="hu-HU" sz="2200" i="1" dirty="0" err="1"/>
              <a:t>metric_ids</a:t>
            </a:r>
            <a:r>
              <a:rPr lang="hu-HU" sz="2200" i="1" dirty="0"/>
              <a:t>, </a:t>
            </a:r>
            <a:r>
              <a:rPr lang="hu-HU" sz="2200" i="1" dirty="0" err="1"/>
              <a:t>metric_scores</a:t>
            </a:r>
            <a:r>
              <a:rPr lang="hu-HU" sz="2200" i="1" dirty="0"/>
              <a:t>) </a:t>
            </a:r>
          </a:p>
          <a:p>
            <a:pPr lvl="1">
              <a:spcBef>
                <a:spcPts val="1200"/>
              </a:spcBef>
            </a:pPr>
            <a:r>
              <a:rPr lang="hu-HU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hu-HU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842179-DC45-CFB9-14DA-5AB45D02F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88" y="3586928"/>
            <a:ext cx="971702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"scores"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[ 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appropriateness_of_names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85 }, 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consistency_of_naming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90 }, 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pronounceability_of_names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88 }, 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clarity_of_comments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75 }, 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usefulness_of_comments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70 }, 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consistency_of_comments_and_code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95 }, 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high_level_understandability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82 },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…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kumimoji="0" lang="hu-HU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</a:t>
            </a:r>
            <a:endParaRPr kumimoji="0" lang="hu-HU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15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1A6D6C-5BB8-9A40-5AD6-E597C8B8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Reposcraper</a:t>
            </a:r>
            <a:r>
              <a:rPr lang="hu-HU" dirty="0"/>
              <a:t> – </a:t>
            </a:r>
            <a:r>
              <a:rPr lang="hu-HU" dirty="0" err="1"/>
              <a:t>Inputs</a:t>
            </a:r>
            <a:r>
              <a:rPr lang="hu-HU" dirty="0"/>
              <a:t> &amp; </a:t>
            </a:r>
            <a:r>
              <a:rPr lang="hu-HU" dirty="0" err="1"/>
              <a:t>Outputs</a:t>
            </a:r>
            <a:r>
              <a:rPr lang="hu-HU" dirty="0"/>
              <a:t> #3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5EC4D3-7074-7228-D821-95FCB7068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692640" cy="4351337"/>
          </a:xfrm>
        </p:spPr>
        <p:txBody>
          <a:bodyPr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hu-HU" sz="2400" b="1" dirty="0" err="1"/>
              <a:t>Metric</a:t>
            </a:r>
            <a:r>
              <a:rPr lang="hu-HU" sz="2400" b="1" dirty="0"/>
              <a:t> </a:t>
            </a:r>
            <a:r>
              <a:rPr lang="hu-HU" sz="2400" b="1" dirty="0" err="1"/>
              <a:t>Calculator</a:t>
            </a:r>
            <a:r>
              <a:rPr lang="hu-HU" sz="2400" b="1" dirty="0"/>
              <a:t>:</a:t>
            </a:r>
          </a:p>
          <a:p>
            <a:pPr lvl="1">
              <a:spcBef>
                <a:spcPts val="1200"/>
              </a:spcBef>
            </a:pPr>
            <a:r>
              <a:rPr lang="hu-HU" sz="2200" i="1" dirty="0"/>
              <a:t>(</a:t>
            </a:r>
            <a:r>
              <a:rPr lang="hu-HU" sz="2200" i="1" dirty="0" err="1"/>
              <a:t>metric_ids</a:t>
            </a:r>
            <a:r>
              <a:rPr lang="hu-HU" sz="2200" i="1" dirty="0"/>
              <a:t>) → (</a:t>
            </a:r>
            <a:r>
              <a:rPr lang="hu-HU" sz="2200" i="1" dirty="0" err="1"/>
              <a:t>metric_ids</a:t>
            </a:r>
            <a:r>
              <a:rPr lang="hu-HU" sz="2200" i="1" dirty="0"/>
              <a:t>, </a:t>
            </a:r>
            <a:r>
              <a:rPr lang="hu-HU" sz="2200" i="1" dirty="0" err="1"/>
              <a:t>metric_scores</a:t>
            </a:r>
            <a:r>
              <a:rPr lang="hu-HU" sz="2200" i="1" dirty="0"/>
              <a:t>) </a:t>
            </a:r>
          </a:p>
          <a:p>
            <a:pPr lvl="1">
              <a:spcBef>
                <a:spcPts val="1200"/>
              </a:spcBef>
            </a:pPr>
            <a:r>
              <a:rPr lang="hu-HU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hu-HU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842179-DC45-CFB9-14DA-5AB45D02F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872" y="3896628"/>
            <a:ext cx="96682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[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hu-HU" altLang="en-US" sz="16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average_line_length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hu-HU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23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},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hu-HU" alt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comment_density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hu-HU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36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},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"id"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hu-HU" altLang="en-US" sz="16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lines</a:t>
            </a:r>
            <a:r>
              <a:rPr lang="hu-HU" alt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_of_code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"score"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hu-HU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}, </a:t>
            </a:r>
            <a:endParaRPr lang="hu-HU" alt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71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1A6D6C-5BB8-9A40-5AD6-E597C8B8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Reposcraper</a:t>
            </a:r>
            <a:r>
              <a:rPr lang="hu-HU" dirty="0"/>
              <a:t> – </a:t>
            </a:r>
            <a:r>
              <a:rPr lang="hu-HU" dirty="0" err="1"/>
              <a:t>Inputs</a:t>
            </a:r>
            <a:r>
              <a:rPr lang="hu-HU" dirty="0"/>
              <a:t> &amp; </a:t>
            </a:r>
            <a:r>
              <a:rPr lang="hu-HU" dirty="0" err="1"/>
              <a:t>Outputs</a:t>
            </a:r>
            <a:r>
              <a:rPr lang="hu-HU" dirty="0"/>
              <a:t> #4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5EC4D3-7074-7228-D821-95FCB7068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692640" cy="4351337"/>
          </a:xfrm>
        </p:spPr>
        <p:txBody>
          <a:bodyPr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hu-HU" sz="2400" b="1" dirty="0"/>
              <a:t>Data </a:t>
            </a:r>
            <a:r>
              <a:rPr lang="hu-HU" sz="2400" b="1" dirty="0" err="1"/>
              <a:t>Savers</a:t>
            </a:r>
            <a:r>
              <a:rPr lang="hu-HU" sz="2400" b="1" dirty="0"/>
              <a:t>:</a:t>
            </a:r>
          </a:p>
          <a:p>
            <a:pPr lvl="1">
              <a:spcBef>
                <a:spcPts val="1200"/>
              </a:spcBef>
            </a:pPr>
            <a:r>
              <a:rPr lang="hu-HU" sz="2200" i="1" dirty="0"/>
              <a:t>(</a:t>
            </a:r>
            <a:r>
              <a:rPr lang="hu-HU" sz="2200" i="1" dirty="0" err="1"/>
              <a:t>output_path</a:t>
            </a:r>
            <a:r>
              <a:rPr lang="hu-HU" sz="2200" i="1" dirty="0"/>
              <a:t>, </a:t>
            </a:r>
            <a:r>
              <a:rPr lang="hu-HU" sz="2200" i="1" dirty="0" err="1"/>
              <a:t>code_metric_pairs</a:t>
            </a:r>
            <a:r>
              <a:rPr lang="hu-HU" sz="2200" i="1" dirty="0"/>
              <a:t>) → </a:t>
            </a:r>
            <a:r>
              <a:rPr lang="hu-HU" sz="2200" i="1" dirty="0" err="1"/>
              <a:t>json</a:t>
            </a:r>
            <a:r>
              <a:rPr lang="hu-HU" sz="2200" i="1" dirty="0"/>
              <a:t> file</a:t>
            </a:r>
          </a:p>
          <a:p>
            <a:pPr lvl="1">
              <a:spcBef>
                <a:spcPts val="1200"/>
              </a:spcBef>
            </a:pPr>
            <a:r>
              <a:rPr lang="hu-HU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hu-HU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307CB57-42DA-50E8-C1E4-D218019D7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88" y="3214420"/>
            <a:ext cx="9668256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timeStamp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„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1999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-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12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-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31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T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23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59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59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9999999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Z"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totalItems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3,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"results"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[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"code"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{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"type"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"method"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"signature"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"public async Task&lt;int&gt;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CalculateSum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(int[] numbers)"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"body"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"int sum = 0;\n foreach (int number in numbers)\n {\n sum += number;\n }\n return sum;\n}"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"comments"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"/// &lt;summary&gt;\n/// Calculates the sum of all numbers in the array.\n/// &lt;/summary&gt;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///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sourceFile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{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"name"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MathUtilities.cs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"path"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src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/Utils/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MathUtilities.cs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"repository"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PythonReadability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"owner"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"GrG0312"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}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readabilityScores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[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metricName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"Cyclomatic Complexity"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scoreValue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3 },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metricName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"Comment Density"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scoreValue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42 },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metricName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"Nesting Depth"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scoreValue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2 },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	…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 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},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"code"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{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…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}, </a:t>
            </a:r>
            <a:endParaRPr kumimoji="0" lang="hu-HU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readabilityScores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 [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…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 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…</a:t>
            </a:r>
            <a:endParaRPr lang="hu-HU" alt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kumimoji="0" lang="hu-HU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29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AFF9D2-18DB-5C48-9D77-2D958F63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Metrics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9BBF52-B065-92BF-F330-DD6584C00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working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b="1" dirty="0"/>
              <a:t>2 </a:t>
            </a:r>
            <a:r>
              <a:rPr lang="hu-HU" b="1" dirty="0" err="1"/>
              <a:t>types</a:t>
            </a:r>
            <a:r>
              <a:rPr lang="hu-HU" b="1" dirty="0"/>
              <a:t> of </a:t>
            </a:r>
            <a:r>
              <a:rPr lang="hu-HU" b="1" dirty="0" err="1"/>
              <a:t>metrics</a:t>
            </a:r>
            <a:r>
              <a:rPr lang="hu-HU" dirty="0"/>
              <a:t>: </a:t>
            </a:r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algorithmic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LLM-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Algorithmic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metrics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/>
            <a:r>
              <a:rPr lang="hu-HU" dirty="0" err="1"/>
              <a:t>These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’ </a:t>
            </a:r>
            <a:r>
              <a:rPr lang="hu-HU" b="1" dirty="0" err="1"/>
              <a:t>exact</a:t>
            </a:r>
            <a:r>
              <a:rPr lang="hu-HU" b="1" dirty="0"/>
              <a:t> </a:t>
            </a:r>
            <a:r>
              <a:rPr lang="hu-HU" b="1" dirty="0" err="1"/>
              <a:t>values</a:t>
            </a:r>
            <a:r>
              <a:rPr lang="hu-HU" b="1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calculated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different</a:t>
            </a:r>
            <a:r>
              <a:rPr lang="hu-HU" dirty="0"/>
              <a:t> </a:t>
            </a:r>
            <a:r>
              <a:rPr lang="hu-HU" dirty="0" err="1"/>
              <a:t>algorithms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light</a:t>
            </a:r>
            <a:r>
              <a:rPr lang="hu-HU" dirty="0"/>
              <a:t>/</a:t>
            </a:r>
            <a:r>
              <a:rPr lang="hu-HU" dirty="0" err="1"/>
              <a:t>moderate</a:t>
            </a:r>
            <a:r>
              <a:rPr lang="hu-HU" dirty="0"/>
              <a:t> </a:t>
            </a:r>
            <a:r>
              <a:rPr lang="hu-HU" dirty="0" err="1"/>
              <a:t>effort</a:t>
            </a:r>
            <a:r>
              <a:rPr lang="hu-HU" dirty="0"/>
              <a:t>.</a:t>
            </a:r>
          </a:p>
          <a:p>
            <a:pPr lvl="1"/>
            <a:r>
              <a:rPr lang="hu-HU" dirty="0" err="1"/>
              <a:t>There</a:t>
            </a:r>
            <a:r>
              <a:rPr lang="hu-HU" dirty="0"/>
              <a:t> no </a:t>
            </a:r>
            <a:r>
              <a:rPr lang="hu-HU" dirty="0" err="1"/>
              <a:t>need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an LLM here</a:t>
            </a:r>
          </a:p>
          <a:p>
            <a:pPr lvl="1"/>
            <a:endParaRPr lang="hu-HU" dirty="0"/>
          </a:p>
          <a:p>
            <a:r>
              <a:rPr lang="hu-HU" b="1" dirty="0"/>
              <a:t>LLM-</a:t>
            </a:r>
            <a:r>
              <a:rPr lang="hu-HU" b="1" dirty="0" err="1"/>
              <a:t>based</a:t>
            </a:r>
            <a:r>
              <a:rPr lang="hu-HU" b="1" dirty="0"/>
              <a:t> </a:t>
            </a:r>
            <a:r>
              <a:rPr lang="hu-HU" b="1" dirty="0" err="1"/>
              <a:t>metrics</a:t>
            </a:r>
            <a:r>
              <a:rPr lang="hu-HU" b="1" dirty="0"/>
              <a:t>:</a:t>
            </a:r>
          </a:p>
          <a:p>
            <a:pPr lvl="1"/>
            <a:r>
              <a:rPr lang="hu-HU" dirty="0" err="1"/>
              <a:t>Metrics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b="1" dirty="0" err="1"/>
              <a:t>don’t</a:t>
            </a:r>
            <a:r>
              <a:rPr lang="hu-HU" b="1" dirty="0"/>
              <a:t> </a:t>
            </a:r>
            <a:r>
              <a:rPr lang="hu-HU" b="1" dirty="0" err="1"/>
              <a:t>have</a:t>
            </a:r>
            <a:r>
              <a:rPr lang="hu-HU" b="1" dirty="0"/>
              <a:t> a </a:t>
            </a:r>
            <a:r>
              <a:rPr lang="hu-HU" b="1" dirty="0" err="1"/>
              <a:t>single</a:t>
            </a:r>
            <a:r>
              <a:rPr lang="hu-HU" b="1" dirty="0"/>
              <a:t> </a:t>
            </a:r>
            <a:r>
              <a:rPr lang="hu-HU" b="1" dirty="0" err="1"/>
              <a:t>correct</a:t>
            </a:r>
            <a:r>
              <a:rPr lang="hu-HU" b="1" dirty="0"/>
              <a:t> </a:t>
            </a:r>
            <a:r>
              <a:rPr lang="hu-HU" b="1" dirty="0" err="1"/>
              <a:t>valu</a:t>
            </a:r>
            <a:r>
              <a:rPr lang="hu-HU" dirty="0" err="1"/>
              <a:t>e</a:t>
            </a:r>
            <a:r>
              <a:rPr lang="hu-HU" dirty="0"/>
              <a:t> / </a:t>
            </a:r>
            <a:r>
              <a:rPr lang="hu-HU" dirty="0" err="1"/>
              <a:t>whose</a:t>
            </a:r>
            <a:r>
              <a:rPr lang="hu-HU" dirty="0"/>
              <a:t> </a:t>
            </a:r>
            <a:r>
              <a:rPr lang="hu-HU" dirty="0" err="1"/>
              <a:t>values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subjective</a:t>
            </a:r>
            <a:r>
              <a:rPr lang="hu-HU" dirty="0"/>
              <a:t>,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whose</a:t>
            </a:r>
            <a:r>
              <a:rPr lang="hu-HU" dirty="0"/>
              <a:t> </a:t>
            </a:r>
            <a:r>
              <a:rPr lang="hu-HU" dirty="0" err="1"/>
              <a:t>values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very</a:t>
            </a:r>
            <a:r>
              <a:rPr lang="hu-HU" dirty="0"/>
              <a:t> </a:t>
            </a:r>
            <a:r>
              <a:rPr lang="hu-HU" dirty="0" err="1"/>
              <a:t>difficult</a:t>
            </a:r>
            <a:r>
              <a:rPr lang="hu-HU" dirty="0"/>
              <a:t> / </a:t>
            </a:r>
            <a:r>
              <a:rPr lang="hu-HU" b="1" dirty="0" err="1"/>
              <a:t>impossible</a:t>
            </a:r>
            <a:r>
              <a:rPr lang="hu-HU" b="1" dirty="0"/>
              <a:t> </a:t>
            </a:r>
            <a:r>
              <a:rPr lang="hu-HU" b="1" dirty="0" err="1"/>
              <a:t>to</a:t>
            </a:r>
            <a:r>
              <a:rPr lang="hu-HU" b="1" dirty="0"/>
              <a:t> </a:t>
            </a:r>
            <a:r>
              <a:rPr lang="hu-HU" b="1" dirty="0" err="1"/>
              <a:t>calculate</a:t>
            </a:r>
            <a:r>
              <a:rPr lang="hu-HU" b="1" dirty="0"/>
              <a:t> </a:t>
            </a:r>
            <a:r>
              <a:rPr lang="hu-HU" b="1" dirty="0" err="1"/>
              <a:t>using</a:t>
            </a:r>
            <a:r>
              <a:rPr lang="hu-HU" b="1" dirty="0"/>
              <a:t> </a:t>
            </a:r>
            <a:r>
              <a:rPr lang="hu-HU" b="1" dirty="0" err="1"/>
              <a:t>only</a:t>
            </a:r>
            <a:r>
              <a:rPr lang="hu-HU" b="1" dirty="0"/>
              <a:t> </a:t>
            </a:r>
            <a:r>
              <a:rPr lang="hu-HU" b="1" dirty="0" err="1"/>
              <a:t>algorithms</a:t>
            </a:r>
            <a:r>
              <a:rPr lang="hu-HU" dirty="0"/>
              <a:t>.</a:t>
            </a:r>
          </a:p>
          <a:p>
            <a:pPr lvl="1"/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estimated</a:t>
            </a:r>
            <a:r>
              <a:rPr lang="hu-HU" dirty="0"/>
              <a:t> </a:t>
            </a:r>
            <a:r>
              <a:rPr lang="hu-HU" dirty="0" err="1"/>
              <a:t>using</a:t>
            </a:r>
            <a:r>
              <a:rPr lang="hu-HU" dirty="0"/>
              <a:t> </a:t>
            </a:r>
            <a:r>
              <a:rPr lang="hu-HU" dirty="0" err="1"/>
              <a:t>LLMs</a:t>
            </a:r>
            <a:r>
              <a:rPr lang="hu-HU" dirty="0"/>
              <a:t> (</a:t>
            </a:r>
            <a:r>
              <a:rPr lang="hu-HU" i="1" dirty="0"/>
              <a:t>hence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name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4233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7448E1-B89D-B369-8DA2-E24BB2EE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Algorithmic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– </a:t>
            </a:r>
            <a:r>
              <a:rPr lang="hu-HU" dirty="0" err="1"/>
              <a:t>Formatting</a:t>
            </a:r>
            <a:r>
              <a:rPr lang="hu-HU" dirty="0"/>
              <a:t> &amp; </a:t>
            </a:r>
            <a:r>
              <a:rPr lang="hu-HU" dirty="0" err="1"/>
              <a:t>Structure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952F9A-DBA1-9EC2-2AA9-A12B790E3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hu-HU" b="1" dirty="0" err="1"/>
              <a:t>Formatting</a:t>
            </a:r>
            <a:r>
              <a:rPr lang="hu-HU" b="1" dirty="0"/>
              <a:t> &amp; </a:t>
            </a:r>
            <a:r>
              <a:rPr lang="hu-HU" b="1" dirty="0" err="1"/>
              <a:t>Structure</a:t>
            </a:r>
            <a:endParaRPr lang="hu-HU" b="1" dirty="0"/>
          </a:p>
          <a:p>
            <a:pPr lvl="1">
              <a:spcBef>
                <a:spcPts val="1200"/>
              </a:spcBef>
            </a:pP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Indentation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Consistency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2">
              <a:spcBef>
                <a:spcPts val="1200"/>
              </a:spcBef>
            </a:pPr>
            <a:r>
              <a:rPr lang="hu-HU" i="1" dirty="0"/>
              <a:t>% of </a:t>
            </a:r>
            <a:r>
              <a:rPr lang="hu-HU" i="1" dirty="0" err="1"/>
              <a:t>lines</a:t>
            </a:r>
            <a:r>
              <a:rPr lang="hu-HU" i="1" dirty="0"/>
              <a:t> </a:t>
            </a:r>
            <a:r>
              <a:rPr lang="hu-HU" i="1" dirty="0" err="1"/>
              <a:t>with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correct</a:t>
            </a:r>
            <a:r>
              <a:rPr lang="hu-HU" i="1" dirty="0"/>
              <a:t> </a:t>
            </a:r>
            <a:r>
              <a:rPr lang="hu-HU" i="1" dirty="0" err="1"/>
              <a:t>indentation</a:t>
            </a:r>
            <a:endParaRPr lang="hu-HU" dirty="0"/>
          </a:p>
          <a:p>
            <a:pPr lvl="1">
              <a:spcBef>
                <a:spcPts val="1200"/>
              </a:spcBef>
            </a:pP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Line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Length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1200"/>
              </a:spcBef>
            </a:pP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Whitespace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Usage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2">
              <a:spcBef>
                <a:spcPts val="1200"/>
              </a:spcBef>
            </a:pPr>
            <a:r>
              <a:rPr lang="hu-HU" i="1" dirty="0"/>
              <a:t>% of </a:t>
            </a:r>
            <a:r>
              <a:rPr lang="hu-HU" i="1" dirty="0" err="1"/>
              <a:t>statements</a:t>
            </a:r>
            <a:r>
              <a:rPr lang="hu-HU" i="1" dirty="0"/>
              <a:t> </a:t>
            </a:r>
            <a:r>
              <a:rPr lang="hu-HU" i="1" dirty="0" err="1"/>
              <a:t>where</a:t>
            </a:r>
            <a:r>
              <a:rPr lang="hu-HU" i="1" dirty="0"/>
              <a:t> </a:t>
            </a:r>
            <a:r>
              <a:rPr lang="hu-HU" i="1" dirty="0" err="1"/>
              <a:t>separator</a:t>
            </a:r>
            <a:r>
              <a:rPr lang="hu-HU" i="1" dirty="0"/>
              <a:t> </a:t>
            </a:r>
            <a:r>
              <a:rPr lang="hu-HU" i="1" dirty="0" err="1"/>
              <a:t>whitespaces</a:t>
            </a:r>
            <a:r>
              <a:rPr lang="hu-HU" i="1" dirty="0"/>
              <a:t> </a:t>
            </a:r>
            <a:r>
              <a:rPr lang="hu-HU" i="1" dirty="0" err="1"/>
              <a:t>are</a:t>
            </a:r>
            <a:r>
              <a:rPr lang="hu-HU" i="1" dirty="0"/>
              <a:t> </a:t>
            </a:r>
            <a:r>
              <a:rPr lang="hu-HU" i="1" dirty="0" err="1"/>
              <a:t>used</a:t>
            </a:r>
            <a:endParaRPr lang="hu-HU" dirty="0"/>
          </a:p>
          <a:p>
            <a:pPr lvl="1">
              <a:spcBef>
                <a:spcPts val="1200"/>
              </a:spcBef>
            </a:pP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Bracing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Style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Consistency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2">
              <a:spcBef>
                <a:spcPts val="1200"/>
              </a:spcBef>
            </a:pPr>
            <a:r>
              <a:rPr lang="hu-HU" i="1" dirty="0"/>
              <a:t>% of </a:t>
            </a:r>
            <a:r>
              <a:rPr lang="hu-HU" i="1" dirty="0" err="1"/>
              <a:t>braces</a:t>
            </a:r>
            <a:r>
              <a:rPr lang="hu-HU" i="1" dirty="0"/>
              <a:t> </a:t>
            </a:r>
            <a:r>
              <a:rPr lang="hu-HU" i="1" dirty="0" err="1"/>
              <a:t>that</a:t>
            </a:r>
            <a:r>
              <a:rPr lang="hu-HU" i="1" dirty="0"/>
              <a:t> </a:t>
            </a:r>
            <a:r>
              <a:rPr lang="hu-HU" i="1" dirty="0" err="1"/>
              <a:t>use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most </a:t>
            </a:r>
            <a:r>
              <a:rPr lang="hu-HU" i="1" dirty="0" err="1"/>
              <a:t>commonly</a:t>
            </a:r>
            <a:r>
              <a:rPr lang="hu-HU" i="1" dirty="0"/>
              <a:t> </a:t>
            </a:r>
            <a:r>
              <a:rPr lang="hu-HU" i="1" dirty="0" err="1"/>
              <a:t>used</a:t>
            </a:r>
            <a:r>
              <a:rPr lang="hu-HU" i="1" dirty="0"/>
              <a:t> </a:t>
            </a:r>
            <a:r>
              <a:rPr lang="hu-HU" i="1" dirty="0" err="1"/>
              <a:t>styling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300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7448E1-B89D-B369-8DA2-E24BB2EE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Algorithmic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– </a:t>
            </a:r>
            <a:r>
              <a:rPr lang="hu-HU" dirty="0" err="1"/>
              <a:t>Complexity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952F9A-DBA1-9EC2-2AA9-A12B790E3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spcBef>
                <a:spcPts val="1800"/>
              </a:spcBef>
            </a:pPr>
            <a:r>
              <a:rPr lang="hu-HU" b="1" dirty="0"/>
              <a:t>Complexity</a:t>
            </a:r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Cyclomatic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Complexity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# of </a:t>
            </a:r>
            <a:r>
              <a:rPr lang="hu-HU" i="1" dirty="0" err="1"/>
              <a:t>linearly</a:t>
            </a:r>
            <a:r>
              <a:rPr lang="hu-HU" i="1" dirty="0"/>
              <a:t> </a:t>
            </a:r>
            <a:r>
              <a:rPr lang="hu-HU" i="1" dirty="0" err="1"/>
              <a:t>independent</a:t>
            </a:r>
            <a:r>
              <a:rPr lang="hu-HU" i="1" dirty="0"/>
              <a:t> </a:t>
            </a:r>
            <a:r>
              <a:rPr lang="hu-HU" i="1" dirty="0" err="1"/>
              <a:t>paths</a:t>
            </a:r>
            <a:r>
              <a:rPr lang="hu-HU" i="1" dirty="0"/>
              <a:t>/</a:t>
            </a:r>
            <a:r>
              <a:rPr lang="hu-HU" i="1" dirty="0" err="1"/>
              <a:t>branches</a:t>
            </a:r>
            <a:r>
              <a:rPr lang="hu-HU" i="1" dirty="0"/>
              <a:t> in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code</a:t>
            </a:r>
            <a:endParaRPr lang="hu-HU" i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Halstead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Metrics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u="sng" dirty="0" err="1"/>
              <a:t>Volume</a:t>
            </a:r>
            <a:r>
              <a:rPr lang="hu-HU" u="sng" dirty="0"/>
              <a:t>:</a:t>
            </a:r>
            <a:r>
              <a:rPr lang="hu-HU" dirty="0"/>
              <a:t> </a:t>
            </a:r>
            <a:r>
              <a:rPr lang="hu-HU" i="1" dirty="0"/>
              <a:t>minimum </a:t>
            </a:r>
            <a:r>
              <a:rPr lang="hu-HU" i="1" dirty="0" err="1"/>
              <a:t>bits</a:t>
            </a:r>
            <a:r>
              <a:rPr lang="hu-HU" i="1" dirty="0"/>
              <a:t> </a:t>
            </a:r>
            <a:r>
              <a:rPr lang="hu-HU" i="1" dirty="0" err="1"/>
              <a:t>needed</a:t>
            </a:r>
            <a:r>
              <a:rPr lang="hu-HU" i="1" dirty="0"/>
              <a:t> </a:t>
            </a:r>
            <a:r>
              <a:rPr lang="hu-HU" i="1" dirty="0" err="1"/>
              <a:t>to</a:t>
            </a:r>
            <a:r>
              <a:rPr lang="hu-HU" i="1" dirty="0"/>
              <a:t> </a:t>
            </a:r>
            <a:r>
              <a:rPr lang="hu-HU" i="1" dirty="0" err="1"/>
              <a:t>store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running</a:t>
            </a:r>
            <a:r>
              <a:rPr lang="hu-HU" i="1" dirty="0"/>
              <a:t> program</a:t>
            </a:r>
            <a:endParaRPr lang="hu-HU" i="1" dirty="0">
              <a:effectLst/>
            </a:endParaRPr>
          </a:p>
          <a:p>
            <a:pPr lvl="2"/>
            <a:r>
              <a:rPr lang="hu-HU" u="sng" dirty="0" err="1"/>
              <a:t>Difficulty</a:t>
            </a:r>
            <a:r>
              <a:rPr lang="hu-HU" u="sng" dirty="0"/>
              <a:t>:</a:t>
            </a:r>
            <a:r>
              <a:rPr lang="hu-HU" dirty="0"/>
              <a:t> </a:t>
            </a:r>
            <a:r>
              <a:rPr lang="hu-HU" i="1" dirty="0" err="1"/>
              <a:t>difficulty</a:t>
            </a:r>
            <a:r>
              <a:rPr lang="hu-HU" i="1" dirty="0"/>
              <a:t> of </a:t>
            </a:r>
            <a:r>
              <a:rPr lang="hu-HU" i="1" dirty="0" err="1"/>
              <a:t>undestanding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program</a:t>
            </a:r>
            <a:endParaRPr lang="hu-HU" i="1" u="sng" dirty="0"/>
          </a:p>
          <a:p>
            <a:pPr lvl="2"/>
            <a:r>
              <a:rPr lang="hu-HU" u="sng" dirty="0" err="1">
                <a:effectLst/>
              </a:rPr>
              <a:t>Effort</a:t>
            </a:r>
            <a:r>
              <a:rPr lang="hu-HU" u="sng" dirty="0">
                <a:effectLst/>
              </a:rPr>
              <a:t>:</a:t>
            </a:r>
            <a:r>
              <a:rPr lang="hu-HU" dirty="0">
                <a:effectLst/>
              </a:rPr>
              <a:t> </a:t>
            </a:r>
            <a:r>
              <a:rPr lang="hu-HU" i="1" dirty="0" err="1">
                <a:effectLst/>
              </a:rPr>
              <a:t>mental</a:t>
            </a:r>
            <a:r>
              <a:rPr lang="hu-HU" i="1" dirty="0">
                <a:effectLst/>
              </a:rPr>
              <a:t> </a:t>
            </a:r>
            <a:r>
              <a:rPr lang="hu-HU" i="1" dirty="0" err="1">
                <a:effectLst/>
              </a:rPr>
              <a:t>effort</a:t>
            </a:r>
            <a:r>
              <a:rPr lang="hu-HU" i="1" dirty="0">
                <a:effectLst/>
              </a:rPr>
              <a:t> </a:t>
            </a:r>
            <a:r>
              <a:rPr lang="hu-HU" i="1" dirty="0" err="1">
                <a:effectLst/>
              </a:rPr>
              <a:t>needed</a:t>
            </a:r>
            <a:r>
              <a:rPr lang="hu-HU" i="1" dirty="0">
                <a:effectLst/>
              </a:rPr>
              <a:t> </a:t>
            </a:r>
            <a:r>
              <a:rPr lang="hu-HU" i="1" dirty="0" err="1">
                <a:effectLst/>
              </a:rPr>
              <a:t>to</a:t>
            </a:r>
            <a:r>
              <a:rPr lang="hu-HU" i="1" dirty="0">
                <a:effectLst/>
              </a:rPr>
              <a:t> </a:t>
            </a:r>
            <a:r>
              <a:rPr lang="hu-HU" i="1" dirty="0" err="1">
                <a:effectLst/>
              </a:rPr>
              <a:t>develop</a:t>
            </a:r>
            <a:r>
              <a:rPr lang="hu-HU" i="1" dirty="0">
                <a:effectLst/>
              </a:rPr>
              <a:t> / </a:t>
            </a:r>
            <a:r>
              <a:rPr lang="hu-HU" i="1" dirty="0" err="1">
                <a:effectLst/>
              </a:rPr>
              <a:t>maintain</a:t>
            </a:r>
            <a:r>
              <a:rPr lang="hu-HU" i="1" dirty="0">
                <a:effectLst/>
              </a:rPr>
              <a:t> </a:t>
            </a:r>
            <a:r>
              <a:rPr lang="hu-HU" i="1" dirty="0" err="1">
                <a:effectLst/>
              </a:rPr>
              <a:t>the</a:t>
            </a:r>
            <a:r>
              <a:rPr lang="hu-HU" i="1" dirty="0">
                <a:effectLst/>
              </a:rPr>
              <a:t> program</a:t>
            </a:r>
            <a:endParaRPr lang="hu-HU" i="1" u="sng" dirty="0">
              <a:effectLst/>
            </a:endParaRPr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Lines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# of </a:t>
            </a:r>
            <a:r>
              <a:rPr lang="hu-HU" i="1" dirty="0" err="1"/>
              <a:t>lines</a:t>
            </a:r>
            <a:r>
              <a:rPr lang="hu-HU" i="1" dirty="0"/>
              <a:t> </a:t>
            </a:r>
            <a:r>
              <a:rPr lang="hu-HU" i="1" dirty="0" err="1"/>
              <a:t>containing</a:t>
            </a:r>
            <a:r>
              <a:rPr lang="hu-HU" i="1" dirty="0"/>
              <a:t> „</a:t>
            </a:r>
            <a:r>
              <a:rPr lang="hu-HU" i="1" dirty="0" err="1"/>
              <a:t>useful</a:t>
            </a:r>
            <a:r>
              <a:rPr lang="hu-HU" i="1" dirty="0"/>
              <a:t>” </a:t>
            </a:r>
            <a:r>
              <a:rPr lang="hu-HU" i="1" dirty="0" err="1"/>
              <a:t>code</a:t>
            </a:r>
            <a:endParaRPr lang="hu-HU" i="1" dirty="0"/>
          </a:p>
        </p:txBody>
      </p:sp>
    </p:spTree>
    <p:extLst>
      <p:ext uri="{BB962C8B-B14F-4D97-AF65-F5344CB8AC3E}">
        <p14:creationId xmlns:p14="http://schemas.microsoft.com/office/powerpoint/2010/main" val="3469327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7448E1-B89D-B369-8DA2-E24BB2EE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Algorithmic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– </a:t>
            </a:r>
            <a:r>
              <a:rPr lang="hu-HU" dirty="0" err="1"/>
              <a:t>Doc</a:t>
            </a:r>
            <a:r>
              <a:rPr lang="hu-HU" dirty="0"/>
              <a:t> &amp; </a:t>
            </a:r>
            <a:r>
              <a:rPr lang="hu-HU" dirty="0" err="1"/>
              <a:t>Naming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952F9A-DBA1-9EC2-2AA9-A12B790E3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hu-HU" b="1" dirty="0" err="1"/>
              <a:t>Documentation</a:t>
            </a:r>
            <a:endParaRPr lang="hu-HU" b="1" dirty="0"/>
          </a:p>
          <a:p>
            <a:pPr lvl="1"/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Density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% of </a:t>
            </a:r>
            <a:r>
              <a:rPr lang="hu-HU" i="1" dirty="0" err="1"/>
              <a:t>lines</a:t>
            </a:r>
            <a:r>
              <a:rPr lang="hu-HU" i="1" dirty="0"/>
              <a:t> </a:t>
            </a:r>
            <a:r>
              <a:rPr lang="hu-HU" i="1" dirty="0" err="1"/>
              <a:t>containing</a:t>
            </a:r>
            <a:r>
              <a:rPr lang="hu-HU" i="1" dirty="0"/>
              <a:t> </a:t>
            </a:r>
            <a:r>
              <a:rPr lang="hu-HU" i="1" dirty="0" err="1"/>
              <a:t>comments</a:t>
            </a:r>
            <a:endParaRPr lang="hu-HU" i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Docstring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Density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% of </a:t>
            </a:r>
            <a:r>
              <a:rPr lang="hu-HU" i="1" dirty="0" err="1"/>
              <a:t>code</a:t>
            </a:r>
            <a:r>
              <a:rPr lang="hu-HU" i="1" dirty="0"/>
              <a:t> </a:t>
            </a:r>
            <a:r>
              <a:rPr lang="hu-HU" i="1" dirty="0" err="1"/>
              <a:t>elements</a:t>
            </a:r>
            <a:r>
              <a:rPr lang="hu-HU" i="1" dirty="0"/>
              <a:t> </a:t>
            </a:r>
            <a:r>
              <a:rPr lang="hu-HU" i="1" dirty="0" err="1"/>
              <a:t>that</a:t>
            </a:r>
            <a:r>
              <a:rPr lang="hu-HU" i="1" dirty="0"/>
              <a:t> </a:t>
            </a:r>
            <a:r>
              <a:rPr lang="hu-HU" i="1" dirty="0" err="1"/>
              <a:t>have</a:t>
            </a:r>
            <a:r>
              <a:rPr lang="hu-HU" i="1" dirty="0"/>
              <a:t> </a:t>
            </a:r>
            <a:r>
              <a:rPr lang="hu-HU" i="1" dirty="0" err="1"/>
              <a:t>docstring</a:t>
            </a:r>
            <a:r>
              <a:rPr lang="hu-HU" i="1" dirty="0"/>
              <a:t>(s) </a:t>
            </a:r>
            <a:r>
              <a:rPr lang="hu-HU" i="1" dirty="0" err="1"/>
              <a:t>attached</a:t>
            </a:r>
            <a:endParaRPr lang="hu-HU" i="1" dirty="0"/>
          </a:p>
          <a:p>
            <a:pPr>
              <a:spcBef>
                <a:spcPts val="1800"/>
              </a:spcBef>
            </a:pPr>
            <a:r>
              <a:rPr lang="hu-HU" b="1" dirty="0" err="1"/>
              <a:t>Naming</a:t>
            </a:r>
            <a:endParaRPr lang="hu-HU" b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Identifier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Length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 err="1"/>
              <a:t>Length</a:t>
            </a:r>
            <a:r>
              <a:rPr lang="hu-HU" i="1" dirty="0"/>
              <a:t> of </a:t>
            </a:r>
            <a:r>
              <a:rPr lang="hu-HU" i="1" dirty="0" err="1"/>
              <a:t>names</a:t>
            </a:r>
            <a:r>
              <a:rPr lang="hu-HU" i="1" dirty="0"/>
              <a:t> of </a:t>
            </a:r>
            <a:r>
              <a:rPr lang="hu-HU" i="1" dirty="0" err="1"/>
              <a:t>methods</a:t>
            </a:r>
            <a:r>
              <a:rPr lang="hu-HU" i="1" dirty="0"/>
              <a:t>, </a:t>
            </a:r>
            <a:r>
              <a:rPr lang="hu-HU" i="1" dirty="0" err="1"/>
              <a:t>classes</a:t>
            </a:r>
            <a:r>
              <a:rPr lang="hu-HU" i="1" dirty="0"/>
              <a:t> </a:t>
            </a:r>
            <a:r>
              <a:rPr lang="hu-HU" i="1" dirty="0" err="1"/>
              <a:t>variables</a:t>
            </a:r>
            <a:r>
              <a:rPr lang="hu-HU" i="1" dirty="0"/>
              <a:t>, </a:t>
            </a:r>
            <a:r>
              <a:rPr lang="hu-HU" i="1" dirty="0" err="1"/>
              <a:t>etc</a:t>
            </a:r>
            <a:endParaRPr lang="hu-HU" i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Keyword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Usage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# of </a:t>
            </a:r>
            <a:r>
              <a:rPr lang="hu-HU" i="1" dirty="0" err="1"/>
              <a:t>times</a:t>
            </a:r>
            <a:r>
              <a:rPr lang="hu-HU" i="1" dirty="0"/>
              <a:t> a </a:t>
            </a:r>
            <a:r>
              <a:rPr lang="hu-HU" i="1" dirty="0" err="1"/>
              <a:t>keyword</a:t>
            </a:r>
            <a:r>
              <a:rPr lang="hu-HU" i="1" dirty="0"/>
              <a:t> </a:t>
            </a:r>
            <a:r>
              <a:rPr lang="hu-HU" i="1" dirty="0" err="1"/>
              <a:t>was</a:t>
            </a:r>
            <a:r>
              <a:rPr lang="hu-HU" i="1" dirty="0"/>
              <a:t> </a:t>
            </a:r>
            <a:r>
              <a:rPr lang="hu-HU" i="1" dirty="0" err="1"/>
              <a:t>used</a:t>
            </a:r>
            <a:r>
              <a:rPr lang="hu-HU" i="1" dirty="0"/>
              <a:t> </a:t>
            </a:r>
            <a:r>
              <a:rPr lang="hu-HU" i="1" dirty="0" err="1"/>
              <a:t>as</a:t>
            </a:r>
            <a:r>
              <a:rPr lang="hu-HU" i="1" dirty="0"/>
              <a:t> a </a:t>
            </a:r>
            <a:r>
              <a:rPr lang="hu-HU" i="1" dirty="0" err="1"/>
              <a:t>name</a:t>
            </a:r>
            <a:r>
              <a:rPr lang="hu-HU" i="1" dirty="0"/>
              <a:t> </a:t>
            </a:r>
            <a:r>
              <a:rPr lang="hu-HU" i="1" dirty="0" err="1"/>
              <a:t>for</a:t>
            </a:r>
            <a:r>
              <a:rPr lang="hu-HU" i="1" dirty="0"/>
              <a:t> a </a:t>
            </a:r>
            <a:r>
              <a:rPr lang="hu-HU" i="1" dirty="0" err="1"/>
              <a:t>code</a:t>
            </a:r>
            <a:r>
              <a:rPr lang="hu-HU" i="1" dirty="0"/>
              <a:t> </a:t>
            </a:r>
            <a:r>
              <a:rPr lang="hu-HU" i="1" dirty="0" err="1"/>
              <a:t>element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86995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97647B-6744-5272-6E38-612B4CC8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LLM-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– </a:t>
            </a:r>
            <a:r>
              <a:rPr lang="hu-HU" dirty="0" err="1"/>
              <a:t>Naming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B09216-3E90-193D-1970-D28613D7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b="1" dirty="0" err="1"/>
              <a:t>Naming</a:t>
            </a:r>
            <a:r>
              <a:rPr lang="hu-HU" b="1" dirty="0"/>
              <a:t> </a:t>
            </a:r>
            <a:r>
              <a:rPr lang="hu-HU" b="1" dirty="0" err="1"/>
              <a:t>Quality</a:t>
            </a:r>
            <a:endParaRPr lang="hu-HU" b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Naming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Convention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Adherence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% of </a:t>
            </a:r>
            <a:r>
              <a:rPr lang="hu-HU" i="1" dirty="0" err="1"/>
              <a:t>names</a:t>
            </a:r>
            <a:r>
              <a:rPr lang="hu-HU" i="1" dirty="0"/>
              <a:t> </a:t>
            </a:r>
            <a:r>
              <a:rPr lang="hu-HU" i="1" dirty="0" err="1"/>
              <a:t>whose</a:t>
            </a:r>
            <a:r>
              <a:rPr lang="hu-HU" i="1" dirty="0"/>
              <a:t> </a:t>
            </a:r>
            <a:r>
              <a:rPr lang="hu-HU" i="1" dirty="0" err="1"/>
              <a:t>naming</a:t>
            </a:r>
            <a:r>
              <a:rPr lang="hu-HU" i="1" dirty="0"/>
              <a:t> </a:t>
            </a:r>
            <a:r>
              <a:rPr lang="hu-HU" i="1" dirty="0" err="1"/>
              <a:t>convention</a:t>
            </a:r>
            <a:r>
              <a:rPr lang="hu-HU" i="1" dirty="0"/>
              <a:t> </a:t>
            </a:r>
            <a:r>
              <a:rPr lang="hu-HU" i="1" dirty="0" err="1"/>
              <a:t>matches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most </a:t>
            </a:r>
            <a:r>
              <a:rPr lang="hu-HU" i="1" dirty="0" err="1"/>
              <a:t>used</a:t>
            </a:r>
            <a:r>
              <a:rPr lang="hu-HU" i="1" dirty="0"/>
              <a:t> </a:t>
            </a:r>
            <a:r>
              <a:rPr lang="hu-HU" i="1" dirty="0" err="1"/>
              <a:t>one</a:t>
            </a:r>
            <a:endParaRPr lang="hu-HU" i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Appropriateness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% of </a:t>
            </a:r>
            <a:r>
              <a:rPr lang="hu-HU" i="1" dirty="0" err="1"/>
              <a:t>names</a:t>
            </a:r>
            <a:r>
              <a:rPr lang="hu-HU" i="1" dirty="0"/>
              <a:t> </a:t>
            </a:r>
            <a:r>
              <a:rPr lang="hu-HU" i="1" dirty="0" err="1"/>
              <a:t>that</a:t>
            </a:r>
            <a:r>
              <a:rPr lang="hu-HU" i="1" dirty="0"/>
              <a:t> </a:t>
            </a:r>
            <a:r>
              <a:rPr lang="hu-HU" i="1" dirty="0" err="1"/>
              <a:t>correctly</a:t>
            </a:r>
            <a:r>
              <a:rPr lang="hu-HU" i="1" dirty="0"/>
              <a:t> and </a:t>
            </a:r>
            <a:r>
              <a:rPr lang="hu-HU" i="1" dirty="0" err="1"/>
              <a:t>clearly</a:t>
            </a:r>
            <a:r>
              <a:rPr lang="hu-HU" i="1" dirty="0"/>
              <a:t> </a:t>
            </a:r>
            <a:r>
              <a:rPr lang="hu-HU" i="1" dirty="0" err="1"/>
              <a:t>reflect</a:t>
            </a:r>
            <a:r>
              <a:rPr lang="hu-HU" i="1" dirty="0"/>
              <a:t> </a:t>
            </a:r>
            <a:r>
              <a:rPr lang="hu-HU" i="1" dirty="0" err="1"/>
              <a:t>their</a:t>
            </a:r>
            <a:r>
              <a:rPr lang="hu-HU" i="1" dirty="0"/>
              <a:t> </a:t>
            </a:r>
            <a:r>
              <a:rPr lang="hu-HU" i="1" dirty="0" err="1"/>
              <a:t>purpose</a:t>
            </a:r>
            <a:endParaRPr lang="hu-HU" i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Consistency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Naming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A </a:t>
            </a:r>
            <a:r>
              <a:rPr lang="hu-HU" i="1" dirty="0" err="1"/>
              <a:t>score</a:t>
            </a:r>
            <a:r>
              <a:rPr lang="hu-HU" i="1" dirty="0"/>
              <a:t> (0-100) </a:t>
            </a:r>
            <a:r>
              <a:rPr lang="hu-HU" i="1" dirty="0" err="1"/>
              <a:t>given</a:t>
            </a:r>
            <a:r>
              <a:rPr lang="hu-HU" i="1" dirty="0"/>
              <a:t> </a:t>
            </a:r>
            <a:r>
              <a:rPr lang="hu-HU" i="1" dirty="0" err="1"/>
              <a:t>for</a:t>
            </a:r>
            <a:r>
              <a:rPr lang="hu-HU" i="1" dirty="0"/>
              <a:t> </a:t>
            </a:r>
            <a:r>
              <a:rPr lang="hu-HU" i="1" dirty="0" err="1"/>
              <a:t>keeping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logic</a:t>
            </a:r>
            <a:r>
              <a:rPr lang="hu-HU" i="1" dirty="0"/>
              <a:t> of </a:t>
            </a:r>
            <a:r>
              <a:rPr lang="hu-HU" i="1" dirty="0" err="1"/>
              <a:t>naming</a:t>
            </a:r>
            <a:r>
              <a:rPr lang="hu-HU" i="1" dirty="0"/>
              <a:t> consistent</a:t>
            </a:r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Pronouncability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dirty="0"/>
              <a:t>% of </a:t>
            </a:r>
            <a:r>
              <a:rPr lang="hu-HU" dirty="0" err="1"/>
              <a:t>names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real</a:t>
            </a:r>
            <a:r>
              <a:rPr lang="hu-HU" dirty="0"/>
              <a:t>, </a:t>
            </a:r>
            <a:r>
              <a:rPr lang="hu-HU" dirty="0" err="1"/>
              <a:t>pronouncable</a:t>
            </a:r>
            <a:r>
              <a:rPr lang="hu-HU" dirty="0"/>
              <a:t> </a:t>
            </a:r>
            <a:r>
              <a:rPr lang="hu-HU" dirty="0" err="1"/>
              <a:t>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596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97647B-6744-5272-6E38-612B4CC8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LLM-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– </a:t>
            </a:r>
            <a:r>
              <a:rPr lang="hu-HU" dirty="0" err="1"/>
              <a:t>Complexity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B09216-3E90-193D-1970-D28613D7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b="1" dirty="0" err="1"/>
              <a:t>Code</a:t>
            </a:r>
            <a:r>
              <a:rPr lang="hu-HU" b="1" dirty="0"/>
              <a:t> </a:t>
            </a:r>
            <a:r>
              <a:rPr lang="hu-HU" b="1" dirty="0" err="1"/>
              <a:t>Complexity</a:t>
            </a:r>
            <a:endParaRPr lang="hu-HU" b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High-Level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understandability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A </a:t>
            </a:r>
            <a:r>
              <a:rPr lang="hu-HU" i="1" dirty="0" err="1"/>
              <a:t>score</a:t>
            </a:r>
            <a:r>
              <a:rPr lang="hu-HU" i="1" dirty="0"/>
              <a:t> (0-100) </a:t>
            </a:r>
            <a:r>
              <a:rPr lang="hu-HU" i="1" dirty="0" err="1"/>
              <a:t>given</a:t>
            </a:r>
            <a:r>
              <a:rPr lang="hu-HU" i="1" dirty="0"/>
              <a:t> </a:t>
            </a:r>
            <a:r>
              <a:rPr lang="hu-HU" i="1" dirty="0" err="1"/>
              <a:t>for</a:t>
            </a:r>
            <a:r>
              <a:rPr lang="hu-HU" i="1" dirty="0"/>
              <a:t> </a:t>
            </a:r>
            <a:r>
              <a:rPr lang="hu-HU" i="1" dirty="0" err="1"/>
              <a:t>how</a:t>
            </a:r>
            <a:r>
              <a:rPr lang="hu-HU" i="1" dirty="0"/>
              <a:t> </a:t>
            </a:r>
            <a:r>
              <a:rPr lang="hu-HU" i="1" dirty="0" err="1"/>
              <a:t>understandable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code</a:t>
            </a:r>
            <a:r>
              <a:rPr lang="hu-HU" i="1" dirty="0"/>
              <a:t> is </a:t>
            </a:r>
            <a:r>
              <a:rPr lang="hu-HU" i="1" dirty="0" err="1"/>
              <a:t>at</a:t>
            </a:r>
            <a:r>
              <a:rPr lang="hu-HU" i="1" dirty="0"/>
              <a:t> </a:t>
            </a:r>
            <a:r>
              <a:rPr lang="hu-HU" i="1" dirty="0" err="1"/>
              <a:t>first</a:t>
            </a:r>
            <a:r>
              <a:rPr lang="hu-HU" i="1" dirty="0"/>
              <a:t> </a:t>
            </a:r>
            <a:r>
              <a:rPr lang="hu-HU" i="1" dirty="0" err="1"/>
              <a:t>glance</a:t>
            </a:r>
            <a:r>
              <a:rPr lang="hu-HU" i="1" dirty="0"/>
              <a:t> </a:t>
            </a:r>
            <a:r>
              <a:rPr lang="hu-HU" i="1" dirty="0" err="1"/>
              <a:t>to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average</a:t>
            </a:r>
            <a:r>
              <a:rPr lang="hu-HU" i="1" dirty="0"/>
              <a:t> </a:t>
            </a:r>
            <a:r>
              <a:rPr lang="hu-HU" i="1" dirty="0" err="1"/>
              <a:t>programmer</a:t>
            </a:r>
            <a:endParaRPr lang="hu-HU" i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Cognitive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A </a:t>
            </a:r>
            <a:r>
              <a:rPr lang="hu-HU" i="1" dirty="0" err="1"/>
              <a:t>score</a:t>
            </a:r>
            <a:r>
              <a:rPr lang="hu-HU" i="1" dirty="0"/>
              <a:t> (0-100) </a:t>
            </a:r>
            <a:r>
              <a:rPr lang="hu-HU" i="1" dirty="0" err="1"/>
              <a:t>given</a:t>
            </a:r>
            <a:r>
              <a:rPr lang="hu-HU" i="1" dirty="0"/>
              <a:t> </a:t>
            </a:r>
            <a:r>
              <a:rPr lang="hu-HU" i="1" dirty="0" err="1"/>
              <a:t>for</a:t>
            </a:r>
            <a:r>
              <a:rPr lang="hu-HU" i="1" dirty="0"/>
              <a:t> </a:t>
            </a:r>
            <a:r>
              <a:rPr lang="hu-HU" i="1" dirty="0" err="1"/>
              <a:t>how</a:t>
            </a:r>
            <a:r>
              <a:rPr lang="hu-HU" i="1" dirty="0"/>
              <a:t> </a:t>
            </a:r>
            <a:r>
              <a:rPr lang="hu-HU" i="1" dirty="0" err="1"/>
              <a:t>easy</a:t>
            </a:r>
            <a:r>
              <a:rPr lang="hu-HU" i="1" dirty="0"/>
              <a:t>/</a:t>
            </a:r>
            <a:r>
              <a:rPr lang="hu-HU" i="1" dirty="0" err="1"/>
              <a:t>hard</a:t>
            </a:r>
            <a:r>
              <a:rPr lang="hu-HU" i="1" dirty="0"/>
              <a:t> </a:t>
            </a:r>
            <a:r>
              <a:rPr lang="hu-HU" i="1" dirty="0" err="1"/>
              <a:t>it</a:t>
            </a:r>
            <a:r>
              <a:rPr lang="hu-HU" i="1" dirty="0"/>
              <a:t> is </a:t>
            </a:r>
            <a:r>
              <a:rPr lang="hu-HU" i="1" dirty="0" err="1"/>
              <a:t>to</a:t>
            </a:r>
            <a:r>
              <a:rPr lang="hu-HU" i="1" dirty="0"/>
              <a:t> </a:t>
            </a:r>
            <a:r>
              <a:rPr lang="hu-HU" i="1" dirty="0" err="1"/>
              <a:t>understand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code’s</a:t>
            </a:r>
            <a:r>
              <a:rPr lang="hu-HU" i="1" dirty="0"/>
              <a:t> </a:t>
            </a:r>
            <a:r>
              <a:rPr lang="hu-HU" i="1" dirty="0" err="1"/>
              <a:t>logic</a:t>
            </a:r>
            <a:endParaRPr lang="hu-HU" i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Idioms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 err="1"/>
              <a:t>Does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code</a:t>
            </a:r>
            <a:r>
              <a:rPr lang="hu-HU" i="1" dirty="0"/>
              <a:t> </a:t>
            </a:r>
            <a:r>
              <a:rPr lang="hu-HU" i="1" dirty="0" err="1"/>
              <a:t>make</a:t>
            </a:r>
            <a:r>
              <a:rPr lang="hu-HU" i="1" dirty="0"/>
              <a:t> </a:t>
            </a:r>
            <a:r>
              <a:rPr lang="hu-HU" i="1" dirty="0" err="1"/>
              <a:t>use</a:t>
            </a:r>
            <a:r>
              <a:rPr lang="hu-HU" i="1" dirty="0"/>
              <a:t> of </a:t>
            </a:r>
            <a:r>
              <a:rPr lang="hu-HU" i="1" dirty="0" err="1"/>
              <a:t>language</a:t>
            </a:r>
            <a:r>
              <a:rPr lang="hu-HU" i="1" dirty="0"/>
              <a:t> </a:t>
            </a:r>
            <a:r>
              <a:rPr lang="hu-HU" i="1" dirty="0" err="1"/>
              <a:t>specific</a:t>
            </a:r>
            <a:r>
              <a:rPr lang="hu-HU" i="1" dirty="0"/>
              <a:t> </a:t>
            </a:r>
            <a:r>
              <a:rPr lang="hu-HU" i="1" dirty="0" err="1"/>
              <a:t>idioms</a:t>
            </a:r>
            <a:r>
              <a:rPr lang="hu-HU" i="1" dirty="0"/>
              <a:t>, and </a:t>
            </a:r>
            <a:r>
              <a:rPr lang="hu-HU" i="1" dirty="0" err="1"/>
              <a:t>if</a:t>
            </a:r>
            <a:r>
              <a:rPr lang="hu-HU" i="1" dirty="0"/>
              <a:t> </a:t>
            </a:r>
            <a:r>
              <a:rPr lang="hu-HU" i="1" dirty="0" err="1"/>
              <a:t>said</a:t>
            </a:r>
            <a:r>
              <a:rPr lang="hu-HU" i="1" dirty="0"/>
              <a:t> </a:t>
            </a:r>
            <a:r>
              <a:rPr lang="hu-HU" i="1" dirty="0" err="1"/>
              <a:t>uses</a:t>
            </a:r>
            <a:r>
              <a:rPr lang="hu-HU" i="1" dirty="0"/>
              <a:t> </a:t>
            </a:r>
            <a:r>
              <a:rPr lang="hu-HU" i="1" dirty="0" err="1"/>
              <a:t>are</a:t>
            </a:r>
            <a:r>
              <a:rPr lang="hu-HU" i="1" dirty="0"/>
              <a:t> </a:t>
            </a:r>
            <a:r>
              <a:rPr lang="hu-HU" i="1" dirty="0" err="1"/>
              <a:t>appropriate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86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97647B-6744-5272-6E38-612B4CC8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LLM-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– </a:t>
            </a:r>
            <a:r>
              <a:rPr lang="hu-HU" dirty="0" err="1"/>
              <a:t>Comments</a:t>
            </a:r>
            <a:r>
              <a:rPr lang="hu-HU" dirty="0"/>
              <a:t> &amp; </a:t>
            </a:r>
            <a:r>
              <a:rPr lang="hu-HU" dirty="0" err="1"/>
              <a:t>Others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B09216-3E90-193D-1970-D28613D7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b="1" dirty="0"/>
              <a:t>Comment </a:t>
            </a:r>
            <a:r>
              <a:rPr lang="hu-HU" b="1" dirty="0" err="1"/>
              <a:t>Quality</a:t>
            </a:r>
            <a:endParaRPr lang="hu-HU" b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Clarity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Usefullness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Comments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% of </a:t>
            </a:r>
            <a:r>
              <a:rPr lang="hu-HU" i="1" dirty="0" err="1"/>
              <a:t>comments</a:t>
            </a:r>
            <a:r>
              <a:rPr lang="hu-HU" i="1" dirty="0"/>
              <a:t> </a:t>
            </a:r>
            <a:r>
              <a:rPr lang="hu-HU" i="1" dirty="0" err="1"/>
              <a:t>that</a:t>
            </a:r>
            <a:r>
              <a:rPr lang="hu-HU" i="1" dirty="0"/>
              <a:t> </a:t>
            </a:r>
            <a:r>
              <a:rPr lang="hu-HU" i="1" dirty="0" err="1"/>
              <a:t>correctly</a:t>
            </a:r>
            <a:r>
              <a:rPr lang="hu-HU" i="1" dirty="0"/>
              <a:t> </a:t>
            </a:r>
            <a:r>
              <a:rPr lang="hu-HU" i="1" dirty="0" err="1"/>
              <a:t>describe</a:t>
            </a:r>
            <a:r>
              <a:rPr lang="hu-HU" i="1" dirty="0"/>
              <a:t> </a:t>
            </a:r>
            <a:r>
              <a:rPr lang="hu-HU" i="1" dirty="0" err="1"/>
              <a:t>how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code</a:t>
            </a:r>
            <a:r>
              <a:rPr lang="hu-HU" i="1" dirty="0"/>
              <a:t> </a:t>
            </a:r>
            <a:r>
              <a:rPr lang="hu-HU" i="1" dirty="0" err="1"/>
              <a:t>works</a:t>
            </a:r>
            <a:r>
              <a:rPr lang="hu-HU" i="1" dirty="0"/>
              <a:t> and </a:t>
            </a:r>
            <a:r>
              <a:rPr lang="hu-HU" i="1" dirty="0" err="1"/>
              <a:t>are</a:t>
            </a:r>
            <a:r>
              <a:rPr lang="hu-HU" i="1" dirty="0"/>
              <a:t> </a:t>
            </a:r>
            <a:r>
              <a:rPr lang="hu-HU" i="1" dirty="0" err="1"/>
              <a:t>not</a:t>
            </a:r>
            <a:r>
              <a:rPr lang="hu-HU" i="1" dirty="0"/>
              <a:t> </a:t>
            </a:r>
            <a:r>
              <a:rPr lang="hu-HU" i="1" dirty="0" err="1"/>
              <a:t>redundant</a:t>
            </a:r>
            <a:endParaRPr lang="hu-HU" i="1" dirty="0"/>
          </a:p>
          <a:p>
            <a:pPr lvl="1"/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Comment-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Consistency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% of </a:t>
            </a:r>
            <a:r>
              <a:rPr lang="hu-HU" i="1" dirty="0" err="1"/>
              <a:t>comments</a:t>
            </a:r>
            <a:r>
              <a:rPr lang="hu-HU" i="1" dirty="0"/>
              <a:t> </a:t>
            </a:r>
            <a:r>
              <a:rPr lang="hu-HU" i="1" dirty="0" err="1"/>
              <a:t>that</a:t>
            </a:r>
            <a:r>
              <a:rPr lang="hu-HU" i="1" dirty="0"/>
              <a:t> </a:t>
            </a:r>
            <a:r>
              <a:rPr lang="hu-HU" i="1" dirty="0" err="1"/>
              <a:t>are</a:t>
            </a:r>
            <a:r>
              <a:rPr lang="hu-HU" i="1" dirty="0"/>
              <a:t> </a:t>
            </a:r>
            <a:r>
              <a:rPr lang="hu-HU" i="1" dirty="0" err="1"/>
              <a:t>placed</a:t>
            </a:r>
            <a:r>
              <a:rPr lang="hu-HU" i="1" dirty="0"/>
              <a:t> </a:t>
            </a:r>
            <a:r>
              <a:rPr lang="hu-HU" i="1" dirty="0" err="1"/>
              <a:t>correctly</a:t>
            </a:r>
            <a:r>
              <a:rPr lang="hu-HU" i="1" dirty="0"/>
              <a:t> / </a:t>
            </a:r>
            <a:r>
              <a:rPr lang="hu-HU" i="1" dirty="0" err="1"/>
              <a:t>are</a:t>
            </a:r>
            <a:r>
              <a:rPr lang="hu-HU" i="1" dirty="0"/>
              <a:t> </a:t>
            </a:r>
            <a:r>
              <a:rPr lang="hu-HU" i="1" dirty="0" err="1"/>
              <a:t>relevant</a:t>
            </a:r>
            <a:r>
              <a:rPr lang="hu-HU" i="1" dirty="0"/>
              <a:t> </a:t>
            </a:r>
            <a:r>
              <a:rPr lang="hu-HU" i="1" dirty="0" err="1"/>
              <a:t>to</a:t>
            </a:r>
            <a:r>
              <a:rPr lang="hu-HU" i="1" dirty="0"/>
              <a:t> </a:t>
            </a:r>
            <a:r>
              <a:rPr lang="hu-HU" i="1" dirty="0" err="1"/>
              <a:t>the</a:t>
            </a:r>
            <a:r>
              <a:rPr lang="hu-HU" i="1" dirty="0"/>
              <a:t> </a:t>
            </a:r>
            <a:r>
              <a:rPr lang="hu-HU" i="1" dirty="0" err="1"/>
              <a:t>code</a:t>
            </a:r>
            <a:endParaRPr lang="hu-HU" i="1" dirty="0"/>
          </a:p>
          <a:p>
            <a:r>
              <a:rPr lang="hu-HU" b="1" dirty="0" err="1"/>
              <a:t>Other</a:t>
            </a:r>
            <a:endParaRPr lang="hu-HU" b="1" dirty="0"/>
          </a:p>
          <a:p>
            <a:pPr lvl="1"/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Handling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Clarity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hu-HU" i="1" dirty="0"/>
              <a:t>A </a:t>
            </a:r>
            <a:r>
              <a:rPr lang="hu-HU" i="1" dirty="0" err="1"/>
              <a:t>score</a:t>
            </a:r>
            <a:r>
              <a:rPr lang="hu-HU" i="1" dirty="0"/>
              <a:t> (0-100) </a:t>
            </a:r>
            <a:r>
              <a:rPr lang="hu-HU" i="1" dirty="0" err="1"/>
              <a:t>given</a:t>
            </a:r>
            <a:r>
              <a:rPr lang="hu-HU" i="1" dirty="0"/>
              <a:t> </a:t>
            </a:r>
            <a:r>
              <a:rPr lang="hu-HU" i="1" dirty="0" err="1"/>
              <a:t>for</a:t>
            </a:r>
            <a:r>
              <a:rPr lang="hu-HU" i="1" dirty="0"/>
              <a:t> </a:t>
            </a:r>
            <a:r>
              <a:rPr lang="hu-HU" i="1" dirty="0" err="1"/>
              <a:t>how</a:t>
            </a:r>
            <a:r>
              <a:rPr lang="hu-HU" i="1" dirty="0"/>
              <a:t> </a:t>
            </a:r>
            <a:r>
              <a:rPr lang="hu-HU" i="1" dirty="0" err="1"/>
              <a:t>clearly</a:t>
            </a:r>
            <a:r>
              <a:rPr lang="hu-HU" i="1" dirty="0"/>
              <a:t> / </a:t>
            </a:r>
            <a:r>
              <a:rPr lang="hu-HU" i="1" dirty="0" err="1"/>
              <a:t>logically</a:t>
            </a:r>
            <a:r>
              <a:rPr lang="hu-HU" i="1" dirty="0"/>
              <a:t> </a:t>
            </a:r>
            <a:r>
              <a:rPr lang="hu-HU" i="1" dirty="0" err="1"/>
              <a:t>are</a:t>
            </a:r>
            <a:r>
              <a:rPr lang="hu-HU" i="1" dirty="0"/>
              <a:t> </a:t>
            </a:r>
            <a:r>
              <a:rPr lang="hu-HU" i="1" dirty="0" err="1"/>
              <a:t>exceptions</a:t>
            </a:r>
            <a:r>
              <a:rPr lang="hu-HU" i="1" dirty="0"/>
              <a:t> </a:t>
            </a:r>
            <a:r>
              <a:rPr lang="hu-HU" i="1" dirty="0" err="1"/>
              <a:t>are</a:t>
            </a:r>
            <a:r>
              <a:rPr lang="hu-HU" i="1" dirty="0"/>
              <a:t> </a:t>
            </a:r>
            <a:r>
              <a:rPr lang="hu-HU" i="1" dirty="0" err="1"/>
              <a:t>handled</a:t>
            </a:r>
            <a:endParaRPr lang="hu-HU" i="1" dirty="0"/>
          </a:p>
          <a:p>
            <a:pPr lvl="1"/>
            <a:r>
              <a:rPr lang="hu-HU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Adherence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Project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Conventions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  <a:p>
            <a:pPr lvl="2"/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A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score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(0-100)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given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how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well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does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project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implement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widely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used</a:t>
            </a: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bg1">
                    <a:lumMod val="50000"/>
                  </a:schemeClr>
                </a:solidFill>
              </a:rPr>
              <a:t>conventions</a:t>
            </a:r>
            <a:endParaRPr lang="hu-HU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71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97647B-6744-5272-6E38-612B4CC8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LLM-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Metrics</a:t>
            </a:r>
            <a:r>
              <a:rPr lang="hu-HU" dirty="0"/>
              <a:t> – </a:t>
            </a:r>
            <a:r>
              <a:rPr lang="hu-HU" dirty="0" err="1"/>
              <a:t>Problems</a:t>
            </a:r>
            <a:r>
              <a:rPr lang="hu-HU" dirty="0"/>
              <a:t>?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B09216-3E90-193D-1970-D28613D7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216000" indent="182880"/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initial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idea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makes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of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lots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of %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values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LLM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calculate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these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values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correctly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? </a:t>
            </a:r>
          </a:p>
          <a:p>
            <a:pPr marL="216000" indent="18288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even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trust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used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LLM’s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output?</a:t>
            </a:r>
          </a:p>
          <a:p>
            <a:pPr marL="216000" indent="182880"/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16000" indent="0">
              <a:buNone/>
            </a:pPr>
            <a:r>
              <a:rPr lang="hu-HU" b="1" cap="small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[</a:t>
            </a:r>
            <a:r>
              <a:rPr lang="hu-HU" b="1" i="1" cap="small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new</a:t>
            </a:r>
            <a:r>
              <a:rPr lang="hu-HU" b="1" cap="small" dirty="0">
                <a:solidFill>
                  <a:schemeClr val="tx1">
                    <a:lumMod val="85000"/>
                    <a:lumOff val="15000"/>
                  </a:schemeClr>
                </a:solidFill>
              </a:rPr>
              <a:t>] Idea:</a:t>
            </a:r>
          </a:p>
          <a:p>
            <a:pPr marL="501750" indent="-28575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Evaluate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 </a:t>
            </a:r>
            <a:r>
              <a:rPr lang="hu-HU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example</a:t>
            </a:r>
            <a:r>
              <a:rPr lang="hu-H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set</a:t>
            </a:r>
            <a:r>
              <a:rPr lang="hu-H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with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single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overall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readability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value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and </a:t>
            </a:r>
            <a:r>
              <a:rPr lang="hu-HU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compare</a:t>
            </a:r>
            <a:r>
              <a:rPr lang="hu-H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values</a:t>
            </a:r>
            <a:r>
              <a:rPr lang="hu-H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got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original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readability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values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!</a:t>
            </a:r>
          </a:p>
          <a:p>
            <a:pPr marL="501750" indent="-28575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This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example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set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should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be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relatively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small</a:t>
            </a:r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311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97647B-6744-5272-6E38-612B4CC8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What</a:t>
            </a:r>
            <a:r>
              <a:rPr lang="hu-HU" dirty="0"/>
              <a:t> is </a:t>
            </a:r>
            <a:r>
              <a:rPr lang="hu-HU" dirty="0" err="1"/>
              <a:t>currently</a:t>
            </a:r>
            <a:r>
              <a:rPr lang="hu-HU" dirty="0"/>
              <a:t> </a:t>
            </a:r>
            <a:r>
              <a:rPr lang="hu-HU" dirty="0" err="1"/>
              <a:t>ready</a:t>
            </a:r>
            <a:r>
              <a:rPr lang="hu-HU" dirty="0"/>
              <a:t>…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B09216-3E90-193D-1970-D28613D7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216000" indent="18288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scrape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hu-HU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publicly</a:t>
            </a:r>
            <a:r>
              <a:rPr lang="hu-HU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available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repository’s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files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split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their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contents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into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desired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sizes</a:t>
            </a:r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16000" indent="18288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 LLM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estimate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LLM-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based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metrics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’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values</a:t>
            </a:r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16000" indent="18288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calculate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values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for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some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of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algorithm-based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metrics</a:t>
            </a:r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16000" indent="18288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save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code-score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pairs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into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separate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JSON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files</a:t>
            </a:r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16000" indent="0">
              <a:buNone/>
            </a:pPr>
            <a:r>
              <a:rPr lang="hu-HU" b="1" cap="small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What</a:t>
            </a:r>
            <a:r>
              <a:rPr lang="hu-HU" b="1" cap="small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b="1" cap="small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took</a:t>
            </a:r>
            <a:r>
              <a:rPr lang="hu-HU" b="1" cap="small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b="1" cap="small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b="1" cap="small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b="1" cap="small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longest</a:t>
            </a:r>
            <a:r>
              <a:rPr lang="hu-H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</a:p>
          <a:p>
            <a:pPr marL="501750" indent="-285750"/>
            <a:r>
              <a:rPr lang="hu-HU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Making</a:t>
            </a:r>
            <a:r>
              <a:rPr lang="hu-HU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C# project </a:t>
            </a:r>
            <a:r>
              <a:rPr lang="hu-HU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work</a:t>
            </a:r>
            <a:r>
              <a:rPr lang="hu-HU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with</a:t>
            </a:r>
            <a:r>
              <a:rPr lang="hu-HU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Apptainer</a:t>
            </a:r>
            <a:r>
              <a:rPr lang="hu-HU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hu-HU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LLMs</a:t>
            </a:r>
            <a:r>
              <a:rPr lang="hu-HU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in GGUF…</a:t>
            </a:r>
          </a:p>
        </p:txBody>
      </p:sp>
    </p:spTree>
    <p:extLst>
      <p:ext uri="{BB962C8B-B14F-4D97-AF65-F5344CB8AC3E}">
        <p14:creationId xmlns:p14="http://schemas.microsoft.com/office/powerpoint/2010/main" val="3162665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97647B-6744-5272-6E38-612B4CC8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…and </a:t>
            </a:r>
            <a:r>
              <a:rPr lang="hu-HU" dirty="0" err="1"/>
              <a:t>what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next</a:t>
            </a:r>
            <a:r>
              <a:rPr lang="hu-HU" dirty="0"/>
              <a:t> </a:t>
            </a:r>
            <a:r>
              <a:rPr lang="hu-HU" dirty="0" err="1"/>
              <a:t>steps</a:t>
            </a:r>
            <a:r>
              <a:rPr lang="hu-HU" dirty="0"/>
              <a:t>?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B09216-3E90-193D-1970-D28613D7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216000" indent="18288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Implement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extra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function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for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LLM-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communication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that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enables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generation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of an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example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set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with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single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readability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value</a:t>
            </a:r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16000" indent="18288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Implement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leftover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algorithms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for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algorithm-based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metrics</a:t>
            </a:r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16000" indent="182880"/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Implement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train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our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own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model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in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order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estimate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the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LLM-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based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metrics</a:t>
            </a:r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ourselves</a:t>
            </a:r>
            <a:endParaRPr lang="hu-H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135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095E16-A8B2-E304-1545-7A5F05EB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cap="small" dirty="0" err="1"/>
              <a:t>Thank</a:t>
            </a:r>
            <a:r>
              <a:rPr lang="hu-HU" cap="small" dirty="0"/>
              <a:t> </a:t>
            </a:r>
            <a:r>
              <a:rPr lang="hu-HU" cap="small" dirty="0" err="1"/>
              <a:t>you</a:t>
            </a:r>
            <a:r>
              <a:rPr lang="hu-HU" cap="small" dirty="0"/>
              <a:t> </a:t>
            </a:r>
            <a:r>
              <a:rPr lang="hu-HU" cap="small" dirty="0" err="1"/>
              <a:t>for</a:t>
            </a:r>
            <a:r>
              <a:rPr lang="hu-HU" cap="small" dirty="0"/>
              <a:t> </a:t>
            </a:r>
            <a:r>
              <a:rPr lang="hu-HU" cap="small" dirty="0" err="1"/>
              <a:t>your</a:t>
            </a:r>
            <a:r>
              <a:rPr lang="hu-HU" cap="small" dirty="0"/>
              <a:t> </a:t>
            </a:r>
            <a:r>
              <a:rPr lang="hu-HU" cap="small" dirty="0" err="1"/>
              <a:t>attention</a:t>
            </a:r>
            <a:r>
              <a:rPr lang="hu-HU" cap="small" dirty="0"/>
              <a:t>!</a:t>
            </a:r>
            <a:endParaRPr lang="en-US" cap="small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B493C4D-94BD-3A83-16C6-B1F6FE7C4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cap="small" dirty="0"/>
              <a:t>„Is </a:t>
            </a:r>
            <a:r>
              <a:rPr lang="hu-HU" cap="small" dirty="0" err="1"/>
              <a:t>there</a:t>
            </a:r>
            <a:r>
              <a:rPr lang="hu-HU" cap="small" dirty="0"/>
              <a:t> </a:t>
            </a:r>
            <a:r>
              <a:rPr lang="hu-HU" cap="small" dirty="0" err="1"/>
              <a:t>Any</a:t>
            </a:r>
            <a:r>
              <a:rPr lang="hu-HU" cap="small" dirty="0"/>
              <a:t> </a:t>
            </a:r>
            <a:r>
              <a:rPr lang="hu-HU" cap="small" dirty="0" err="1"/>
              <a:t>question</a:t>
            </a:r>
            <a:r>
              <a:rPr lang="hu-HU" cap="small" dirty="0"/>
              <a:t>?”</a:t>
            </a:r>
            <a:endParaRPr lang="en-US" cap="small" dirty="0"/>
          </a:p>
        </p:txBody>
      </p:sp>
    </p:spTree>
    <p:extLst>
      <p:ext uri="{BB962C8B-B14F-4D97-AF65-F5344CB8AC3E}">
        <p14:creationId xmlns:p14="http://schemas.microsoft.com/office/powerpoint/2010/main" val="3339135640"/>
      </p:ext>
    </p:extLst>
  </p:cSld>
  <p:clrMapOvr>
    <a:masterClrMapping/>
  </p:clrMapOvr>
</p:sld>
</file>

<file path=ppt/theme/theme1.xml><?xml version="1.0" encoding="utf-8"?>
<a:theme xmlns:a="http://schemas.openxmlformats.org/drawingml/2006/main" name="Nézet">
  <a:themeElements>
    <a:clrScheme name="Kék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Néze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Néze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TM03457515[[fn=Nézet]]</Template>
  <TotalTime>371</TotalTime>
  <Words>2475</Words>
  <Application>Microsoft Office PowerPoint</Application>
  <PresentationFormat>Szélesvásznú</PresentationFormat>
  <Paragraphs>250</Paragraphs>
  <Slides>18</Slides>
  <Notes>18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4" baseType="lpstr">
      <vt:lpstr>Arial</vt:lpstr>
      <vt:lpstr>Calibri</vt:lpstr>
      <vt:lpstr>Cascadia Mono</vt:lpstr>
      <vt:lpstr>Century Schoolbook</vt:lpstr>
      <vt:lpstr>Wingdings 2</vt:lpstr>
      <vt:lpstr>Nézet</vt:lpstr>
      <vt:lpstr>Code Readability Project</vt:lpstr>
      <vt:lpstr>Goal of the Project</vt:lpstr>
      <vt:lpstr>Reposcraper - Architecture</vt:lpstr>
      <vt:lpstr>Reposcraper – Inputs &amp; Outputs #1</vt:lpstr>
      <vt:lpstr>Reposcraper – Inputs &amp; Outputs #2</vt:lpstr>
      <vt:lpstr>Reposcraper – Inputs &amp; Outputs #3</vt:lpstr>
      <vt:lpstr>Reposcraper – Inputs &amp; Outputs #4</vt:lpstr>
      <vt:lpstr>Used Metrics</vt:lpstr>
      <vt:lpstr>Algorithmic Metrics – Formatting &amp; Structure</vt:lpstr>
      <vt:lpstr>Algorithmic Metrics – Complexity</vt:lpstr>
      <vt:lpstr>Algorithmic Metrics – Doc &amp; Naming</vt:lpstr>
      <vt:lpstr>LLM-Based Metrics – Naming</vt:lpstr>
      <vt:lpstr>LLM-Based Metrics – Complexity</vt:lpstr>
      <vt:lpstr>LLM-Based Metrics – Comments &amp; Others</vt:lpstr>
      <vt:lpstr>LLM-Based Metrics – Problems?</vt:lpstr>
      <vt:lpstr>What is currently ready…</vt:lpstr>
      <vt:lpstr>…and what are the next steps?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Readability Project</dc:title>
  <dc:creator>Gergő Márton</dc:creator>
  <cp:lastModifiedBy>Gergő Márton</cp:lastModifiedBy>
  <cp:revision>18</cp:revision>
  <dcterms:created xsi:type="dcterms:W3CDTF">2026-02-24T18:17:42Z</dcterms:created>
  <dcterms:modified xsi:type="dcterms:W3CDTF">2026-03-06T12:25:28Z</dcterms:modified>
</cp:coreProperties>
</file>